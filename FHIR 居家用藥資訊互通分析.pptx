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13"/>
  </p:notesMasterIdLst>
  <p:sldIdLst>
    <p:sldId id="263" r:id="rId2"/>
    <p:sldId id="574" r:id="rId3"/>
    <p:sldId id="575" r:id="rId4"/>
    <p:sldId id="576" r:id="rId5"/>
    <p:sldId id="523" r:id="rId6"/>
    <p:sldId id="522" r:id="rId7"/>
    <p:sldId id="463" r:id="rId8"/>
    <p:sldId id="468" r:id="rId9"/>
    <p:sldId id="535" r:id="rId10"/>
    <p:sldId id="536" r:id="rId11"/>
    <p:sldId id="502" r:id="rId12"/>
  </p:sldIdLst>
  <p:sldSz cx="12190413" cy="6859588"/>
  <p:notesSz cx="6858000" cy="9144000"/>
  <p:defaultTextStyle>
    <a:defPPr>
      <a:defRPr lang="zh-TW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1">
          <p15:clr>
            <a:srgbClr val="A4A3A4"/>
          </p15:clr>
        </p15:guide>
        <p15:guide id="2" pos="384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02" autoAdjust="0"/>
    <p:restoredTop sz="82503" autoAdjust="0"/>
  </p:normalViewPr>
  <p:slideViewPr>
    <p:cSldViewPr>
      <p:cViewPr varScale="1">
        <p:scale>
          <a:sx n="56" d="100"/>
          <a:sy n="56" d="100"/>
        </p:scale>
        <p:origin x="-1192" y="224"/>
      </p:cViewPr>
      <p:guideLst>
        <p:guide orient="horz" pos="2161"/>
        <p:guide pos="3841"/>
      </p:guideLst>
    </p:cSldViewPr>
  </p:slideViewPr>
  <p:outlineViewPr>
    <p:cViewPr>
      <p:scale>
        <a:sx n="33" d="100"/>
        <a:sy n="33" d="100"/>
      </p:scale>
      <p:origin x="0" y="1636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6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332A7C-9682-4837-A539-963FBA27CFE5}" type="datetimeFigureOut">
              <a:rPr lang="zh-TW" altLang="en-US" smtClean="0"/>
              <a:t>2019/2/20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6584B8-6126-439A-883A-3E75AF66D8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6517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584B8-6126-439A-883A-3E75AF66D8A8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53094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zh-TW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病患每次回診後，醫院端上傳病患的服藥處方至醫院建立的</a:t>
            </a:r>
            <a:r>
              <a:rPr lang="en-US" altLang="zh-TW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FHIR Server</a:t>
            </a:r>
            <a:r>
              <a:rPr lang="zh-TW" altLang="zh-TW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，再上傳至</a:t>
            </a:r>
            <a:r>
              <a:rPr lang="en-US" altLang="zh-TW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FHIR Server</a:t>
            </a:r>
            <a:r>
              <a:rPr lang="zh-TW" altLang="zh-TW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，使用者透過</a:t>
            </a:r>
            <a:r>
              <a:rPr lang="en-US" altLang="zh-TW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Aggregation Hub</a:t>
            </a:r>
            <a:r>
              <a:rPr lang="zh-TW" altLang="zh-TW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介面調閱病患的服藥處方，使用者確認資料無誤後，使用者按下藥盒上重設按鈕，藥盒啟動藍芽向</a:t>
            </a:r>
            <a:r>
              <a:rPr lang="en-US" altLang="zh-TW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Aggregation Hub</a:t>
            </a:r>
            <a:r>
              <a:rPr lang="zh-TW" altLang="zh-TW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做連線，</a:t>
            </a:r>
            <a:r>
              <a:rPr lang="en-US" altLang="zh-TW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Aggregation Hub</a:t>
            </a:r>
            <a:r>
              <a:rPr lang="zh-TW" altLang="zh-TW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傳送服藥參數設定藥盒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584B8-6126-439A-883A-3E75AF66D8A8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3013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mtClean="0"/>
              <a:t>Bundle</a:t>
            </a:r>
            <a:r>
              <a:rPr lang="zh-TW" altLang="en-US" smtClean="0"/>
              <a:t>內包病患的服藥處方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584B8-6126-439A-883A-3E75AF66D8A8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44952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zh-TW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收集居家量測記錄或服藥紀錄，病患使用家中的</a:t>
            </a:r>
            <a:r>
              <a:rPr lang="en-US" altLang="zh-TW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Personal Device(</a:t>
            </a:r>
            <a:r>
              <a:rPr lang="zh-TW" altLang="zh-TW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血壓、血糖、耳溫、藥盒</a:t>
            </a:r>
            <a:r>
              <a:rPr lang="en-US" altLang="zh-TW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zh-TW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TW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Personal Device</a:t>
            </a:r>
            <a:r>
              <a:rPr lang="zh-TW" altLang="zh-TW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啟動藍芽向</a:t>
            </a:r>
            <a:r>
              <a:rPr lang="en-US" altLang="zh-TW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Aggregation Hub</a:t>
            </a:r>
            <a:r>
              <a:rPr lang="zh-TW" altLang="zh-TW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做連線，</a:t>
            </a:r>
            <a:r>
              <a:rPr lang="en-US" altLang="zh-TW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Personal Device</a:t>
            </a:r>
            <a:r>
              <a:rPr lang="zh-TW" altLang="zh-TW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傳送量測值或服藥狀態參數，使用者確認量測值或服藥參數，</a:t>
            </a:r>
            <a:r>
              <a:rPr lang="en-US" altLang="zh-TW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Aggregation Hub</a:t>
            </a:r>
            <a:r>
              <a:rPr lang="zh-TW" altLang="zh-TW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轉換為對應的</a:t>
            </a:r>
            <a:r>
              <a:rPr lang="en-US" altLang="zh-TW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FHIR Resource</a:t>
            </a:r>
            <a:r>
              <a:rPr lang="zh-TW" altLang="zh-TW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，再傳至</a:t>
            </a:r>
            <a:r>
              <a:rPr lang="en-US" altLang="zh-TW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FHIR Server</a:t>
            </a:r>
            <a:r>
              <a:rPr lang="zh-TW" altLang="zh-TW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，方便家屬或醫護人員觀看病患在家中的量測記錄或服藥紀錄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584B8-6126-439A-883A-3E75AF66D8A8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64219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600" smtClean="0"/>
              <a:t>Aggregation Hub</a:t>
            </a:r>
            <a:r>
              <a:rPr lang="zh-TW" altLang="en-US" sz="1600" smtClean="0"/>
              <a:t>接收的量測值或服藥紀錄，轉換為</a:t>
            </a:r>
            <a:r>
              <a:rPr lang="en-US" altLang="zh-TW" sz="1600" smtClean="0"/>
              <a:t>FHIR Resource</a:t>
            </a:r>
          </a:p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584B8-6126-439A-883A-3E75AF66D8A8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14299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mtClean="0"/>
              <a:t>以上為本研究所提出的內容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584B8-6126-439A-883A-3E75AF66D8A8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8769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281" y="2130919"/>
            <a:ext cx="10361851" cy="1470366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563" y="3887100"/>
            <a:ext cx="8533290" cy="175300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4F6F5-E29C-4FC3-807F-573476AD4BB6}" type="datetime1">
              <a:rPr lang="zh-TW" altLang="en-US" smtClean="0"/>
              <a:t>2019/2/20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99E7-0CDE-4D4F-8249-0A9DEB313D97}" type="datetime1">
              <a:rPr lang="zh-TW" altLang="en-US" smtClean="0"/>
              <a:t>2019/2/20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ED196-1F79-407D-9721-6E90873608FD}" type="datetime1">
              <a:rPr lang="zh-TW" altLang="en-US" smtClean="0"/>
              <a:t>2019/2/20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522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7FBEF-56FE-46F3-A713-E3539CF83830}" type="datetime1">
              <a:rPr lang="zh-TW" altLang="en-US" smtClean="0"/>
              <a:t>2019/2/20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700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00" b="1"/>
            </a:lvl4pPr>
            <a:lvl5pPr marL="2438339" indent="0">
              <a:buNone/>
              <a:defRPr sz="2100" b="1"/>
            </a:lvl5pPr>
            <a:lvl6pPr marL="3047924" indent="0">
              <a:buNone/>
              <a:defRPr sz="2100" b="1"/>
            </a:lvl6pPr>
            <a:lvl7pPr marL="3657509" indent="0">
              <a:buNone/>
              <a:defRPr sz="2100" b="1"/>
            </a:lvl7pPr>
            <a:lvl8pPr marL="4267093" indent="0">
              <a:buNone/>
              <a:defRPr sz="2100" b="1"/>
            </a:lvl8pPr>
            <a:lvl9pPr marL="4876678" indent="0">
              <a:buNone/>
              <a:defRPr sz="21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2565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700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00" b="1"/>
            </a:lvl4pPr>
            <a:lvl5pPr marL="2438339" indent="0">
              <a:buNone/>
              <a:defRPr sz="2100" b="1"/>
            </a:lvl5pPr>
            <a:lvl6pPr marL="3047924" indent="0">
              <a:buNone/>
              <a:defRPr sz="2100" b="1"/>
            </a:lvl6pPr>
            <a:lvl7pPr marL="3657509" indent="0">
              <a:buNone/>
              <a:defRPr sz="2100" b="1"/>
            </a:lvl7pPr>
            <a:lvl8pPr marL="4267093" indent="0">
              <a:buNone/>
              <a:defRPr sz="2100" b="1"/>
            </a:lvl8pPr>
            <a:lvl9pPr marL="4876678" indent="0">
              <a:buNone/>
              <a:defRPr sz="21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2565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27471-E4C2-4C23-B185-0ACECA66E436}" type="datetime1">
              <a:rPr lang="zh-TW" altLang="en-US" smtClean="0"/>
              <a:t>2019/2/20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D7F85-D5F1-4815-A163-DBFD4D0D413D}" type="datetime1">
              <a:rPr lang="zh-TW" altLang="en-US" smtClean="0"/>
              <a:t>2019/2/20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9E344-0DFF-4B2E-A7C8-60243404C5E0}" type="datetime1">
              <a:rPr lang="zh-TW" altLang="en-US" smtClean="0"/>
              <a:t>2019/2/20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25" y="273112"/>
            <a:ext cx="4010562" cy="1162320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112" y="273116"/>
            <a:ext cx="6814779" cy="5854469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525" y="1435436"/>
            <a:ext cx="4010562" cy="4692149"/>
          </a:xfrm>
        </p:spPr>
        <p:txBody>
          <a:bodyPr/>
          <a:lstStyle>
            <a:lvl1pPr marL="0" indent="0">
              <a:buNone/>
              <a:defRPr sz="1900"/>
            </a:lvl1pPr>
            <a:lvl2pPr marL="609585" indent="0">
              <a:buNone/>
              <a:defRPr sz="1600"/>
            </a:lvl2pPr>
            <a:lvl3pPr marL="1219170" indent="0">
              <a:buNone/>
              <a:defRPr sz="1300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580E7-A7BE-43EC-A5F7-2881D87BB8B5}" type="datetime1">
              <a:rPr lang="zh-TW" altLang="en-US" smtClean="0"/>
              <a:t>2019/2/20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406" y="4801712"/>
            <a:ext cx="7314248" cy="566870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406" y="612916"/>
            <a:ext cx="7314248" cy="4115753"/>
          </a:xfrm>
        </p:spPr>
        <p:txBody>
          <a:bodyPr/>
          <a:lstStyle>
            <a:lvl1pPr marL="0" indent="0">
              <a:buNone/>
              <a:defRPr sz="4300"/>
            </a:lvl1pPr>
            <a:lvl2pPr marL="609585" indent="0">
              <a:buNone/>
              <a:defRPr sz="3700"/>
            </a:lvl2pPr>
            <a:lvl3pPr marL="1219170" indent="0">
              <a:buNone/>
              <a:defRPr sz="3200"/>
            </a:lvl3pPr>
            <a:lvl4pPr marL="1828754" indent="0">
              <a:buNone/>
              <a:defRPr sz="2700"/>
            </a:lvl4pPr>
            <a:lvl5pPr marL="2438339" indent="0">
              <a:buNone/>
              <a:defRPr sz="2700"/>
            </a:lvl5pPr>
            <a:lvl6pPr marL="3047924" indent="0">
              <a:buNone/>
              <a:defRPr sz="2700"/>
            </a:lvl6pPr>
            <a:lvl7pPr marL="3657509" indent="0">
              <a:buNone/>
              <a:defRPr sz="2700"/>
            </a:lvl7pPr>
            <a:lvl8pPr marL="4267093" indent="0">
              <a:buNone/>
              <a:defRPr sz="2700"/>
            </a:lvl8pPr>
            <a:lvl9pPr marL="4876678" indent="0">
              <a:buNone/>
              <a:defRPr sz="27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406" y="5368582"/>
            <a:ext cx="7314248" cy="805049"/>
          </a:xfrm>
        </p:spPr>
        <p:txBody>
          <a:bodyPr/>
          <a:lstStyle>
            <a:lvl1pPr marL="0" indent="0">
              <a:buNone/>
              <a:defRPr sz="1900"/>
            </a:lvl1pPr>
            <a:lvl2pPr marL="609585" indent="0">
              <a:buNone/>
              <a:defRPr sz="1600"/>
            </a:lvl2pPr>
            <a:lvl3pPr marL="1219170" indent="0">
              <a:buNone/>
              <a:defRPr sz="1300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7D54D-2328-410A-A730-9D170A5B3944}" type="datetime1">
              <a:rPr lang="zh-TW" altLang="en-US" smtClean="0"/>
              <a:t>2019/2/20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BD3F-4734-46B6-9ACF-6BD3D44048D8}" type="datetime1">
              <a:rPr lang="zh-TW" altLang="en-US" smtClean="0"/>
              <a:t>2019/2/20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524" y="274702"/>
            <a:ext cx="8025354" cy="585288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1A77A-D03F-433F-A7E2-D4BAF68A053C}" type="datetime1">
              <a:rPr lang="zh-TW" altLang="en-US" smtClean="0"/>
              <a:t>2019/2/20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522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522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1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14B9E6-3656-4397-9F3E-1EF0CFF00DA3}" type="datetime1">
              <a:rPr lang="zh-TW" altLang="en-US" smtClean="0"/>
              <a:t>2019/2/20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059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1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121917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1307" y="1028975"/>
            <a:ext cx="10361851" cy="1470366"/>
          </a:xfrm>
        </p:spPr>
        <p:txBody>
          <a:bodyPr>
            <a:normAutofit fontScale="90000"/>
          </a:bodyPr>
          <a:lstStyle/>
          <a:p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FHIR </a:t>
            </a: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居家</a:t>
            </a:r>
            <a:r>
              <a:rPr lang="zh-TW" altLang="en-US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用藥資訊</a:t>
            </a: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互通</a:t>
            </a:r>
            <a:r>
              <a:rPr lang="zh-TW" altLang="en-US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分析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71288" y="3861942"/>
            <a:ext cx="8533290" cy="1753006"/>
          </a:xfrm>
        </p:spPr>
        <p:txBody>
          <a:bodyPr>
            <a:normAutofit/>
          </a:bodyPr>
          <a:lstStyle/>
          <a:p>
            <a:r>
              <a:rPr lang="zh-TW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慈大醫資</a:t>
            </a:r>
            <a:r>
              <a:rPr lang="zh-TW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蕭嘉宏</a:t>
            </a:r>
            <a:endParaRPr lang="zh-TW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0987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590" y="-14640"/>
            <a:ext cx="10971372" cy="1143265"/>
          </a:xfrm>
        </p:spPr>
        <p:txBody>
          <a:bodyPr/>
          <a:lstStyle/>
          <a:p>
            <a:r>
              <a:rPr lang="zh-TW" altLang="en-US" dirty="0" smtClean="0"/>
              <a:t>應用情境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2598" y="1125538"/>
            <a:ext cx="10971372" cy="4527011"/>
          </a:xfrm>
        </p:spPr>
        <p:txBody>
          <a:bodyPr/>
          <a:lstStyle/>
          <a:p>
            <a:r>
              <a:rPr lang="zh-TW" altLang="en-US" dirty="0" smtClean="0"/>
              <a:t>健康醫療整合團隊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醫院上傳</a:t>
            </a:r>
            <a:r>
              <a:rPr lang="zh-TW" altLang="en-US" b="1" dirty="0" smtClean="0">
                <a:solidFill>
                  <a:srgbClr val="FF0000"/>
                </a:solidFill>
              </a:rPr>
              <a:t>藥物處方</a:t>
            </a:r>
            <a:endParaRPr lang="en-US" altLang="zh-TW" b="1" dirty="0" smtClean="0">
              <a:solidFill>
                <a:srgbClr val="FF0000"/>
              </a:solidFill>
            </a:endParaRPr>
          </a:p>
          <a:p>
            <a:pPr lvl="1"/>
            <a:r>
              <a:rPr lang="en-US" altLang="zh-TW" dirty="0" smtClean="0"/>
              <a:t>option: </a:t>
            </a:r>
            <a:r>
              <a:rPr lang="zh-TW" altLang="en-US" dirty="0" smtClean="0"/>
              <a:t>藥局上傳</a:t>
            </a:r>
            <a:r>
              <a:rPr lang="zh-TW" altLang="en-US" b="1" dirty="0" smtClean="0">
                <a:solidFill>
                  <a:srgbClr val="FF0000"/>
                </a:solidFill>
              </a:rPr>
              <a:t>配藥結果</a:t>
            </a:r>
            <a:endParaRPr lang="en-US" altLang="zh-TW" b="1" dirty="0" smtClean="0">
              <a:solidFill>
                <a:srgbClr val="FF0000"/>
              </a:solidFill>
            </a:endParaRPr>
          </a:p>
          <a:p>
            <a:pPr lvl="1"/>
            <a:r>
              <a:rPr lang="en-US" altLang="zh-TW" dirty="0" smtClean="0"/>
              <a:t>option: </a:t>
            </a:r>
            <a:r>
              <a:rPr lang="zh-TW" altLang="en-US" dirty="0" smtClean="0"/>
              <a:t>病房、照護中心、居家分包每次配藥結果</a:t>
            </a:r>
            <a:r>
              <a:rPr lang="en-US" altLang="zh-TW" dirty="0" smtClean="0"/>
              <a:t>(Unit Dose)</a:t>
            </a:r>
            <a:r>
              <a:rPr lang="zh-TW" altLang="en-US" dirty="0" smtClean="0"/>
              <a:t> 上傳</a:t>
            </a:r>
            <a:r>
              <a:rPr lang="zh-TW" altLang="en-US" b="1" dirty="0" smtClean="0">
                <a:solidFill>
                  <a:srgbClr val="FF0000"/>
                </a:solidFill>
              </a:rPr>
              <a:t>包藥結果</a:t>
            </a:r>
            <a:endParaRPr lang="en-US" altLang="zh-TW" b="1" dirty="0" smtClean="0">
              <a:solidFill>
                <a:srgbClr val="FF0000"/>
              </a:solidFill>
            </a:endParaRPr>
          </a:p>
          <a:p>
            <a:r>
              <a:rPr lang="zh-TW" altLang="en-US" dirty="0"/>
              <a:t>病人端</a:t>
            </a:r>
          </a:p>
          <a:p>
            <a:r>
              <a:rPr lang="zh-TW" altLang="en-US" dirty="0" smtClean="0"/>
              <a:t>智慧藥盒下載處方進行用藥提醒</a:t>
            </a:r>
            <a:endParaRPr lang="en-US" altLang="zh-TW" dirty="0" smtClean="0"/>
          </a:p>
          <a:p>
            <a:r>
              <a:rPr lang="zh-TW" altLang="en-US" dirty="0" smtClean="0"/>
              <a:t>上傳</a:t>
            </a:r>
            <a:r>
              <a:rPr lang="zh-TW" altLang="en-US" b="1" dirty="0" smtClean="0">
                <a:solidFill>
                  <a:srgbClr val="FF0000"/>
                </a:solidFill>
              </a:rPr>
              <a:t>用藥紀錄</a:t>
            </a:r>
            <a:endParaRPr lang="en-US" altLang="zh-TW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0646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使用的 </a:t>
            </a:r>
            <a:r>
              <a:rPr lang="en-US" altLang="zh-TW" dirty="0" smtClean="0"/>
              <a:t>FHIR</a:t>
            </a:r>
            <a:r>
              <a:rPr lang="zh-TW" altLang="en-US" dirty="0" smtClean="0"/>
              <a:t> </a:t>
            </a:r>
            <a:r>
              <a:rPr lang="en-US" altLang="zh-TW" dirty="0" smtClean="0"/>
              <a:t>resources </a:t>
            </a:r>
            <a:r>
              <a:rPr lang="zh-TW" altLang="en-US" dirty="0" smtClean="0"/>
              <a:t>規範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522" y="1413570"/>
            <a:ext cx="10971372" cy="4714013"/>
          </a:xfrm>
        </p:spPr>
        <p:txBody>
          <a:bodyPr/>
          <a:lstStyle/>
          <a:p>
            <a:r>
              <a:rPr lang="zh-TW" altLang="en-US" sz="3200" dirty="0" smtClean="0"/>
              <a:t>處方</a:t>
            </a:r>
            <a:r>
              <a:rPr lang="en-US" altLang="zh-TW" sz="3200" dirty="0"/>
              <a:t>: </a:t>
            </a:r>
            <a:r>
              <a:rPr lang="en-US" altLang="zh-TW" sz="3200" b="1" dirty="0" err="1">
                <a:solidFill>
                  <a:srgbClr val="FF0000"/>
                </a:solidFill>
              </a:rPr>
              <a:t>MedicationReque</a:t>
            </a:r>
            <a:r>
              <a:rPr lang="en-US" altLang="zh-TW" sz="3200" dirty="0" err="1">
                <a:solidFill>
                  <a:srgbClr val="FF0000"/>
                </a:solidFill>
              </a:rPr>
              <a:t>st</a:t>
            </a:r>
            <a:r>
              <a:rPr lang="en-US" altLang="zh-TW" sz="3200" dirty="0"/>
              <a:t> (</a:t>
            </a:r>
            <a:r>
              <a:rPr lang="zh-TW" altLang="en-US" sz="3200" dirty="0" smtClean="0"/>
              <a:t>每種藥一個</a:t>
            </a:r>
            <a:r>
              <a:rPr lang="en-US" altLang="zh-TW" sz="3200" dirty="0" smtClean="0"/>
              <a:t>)</a:t>
            </a:r>
          </a:p>
          <a:p>
            <a:pPr lvl="1"/>
            <a:r>
              <a:rPr lang="en-US" altLang="zh-TW" sz="2600" dirty="0"/>
              <a:t>https://www.hl7.org/fhir/medicationrequest.html</a:t>
            </a:r>
          </a:p>
          <a:p>
            <a:r>
              <a:rPr lang="zh-TW" altLang="en-US" sz="3200" dirty="0" smtClean="0"/>
              <a:t>配藥及包藥結果</a:t>
            </a:r>
            <a:r>
              <a:rPr lang="en-US" altLang="zh-TW" sz="3200" dirty="0" smtClean="0"/>
              <a:t>:</a:t>
            </a:r>
            <a:r>
              <a:rPr lang="en-US" altLang="zh-TW" sz="3200" b="1" dirty="0" err="1" smtClean="0">
                <a:solidFill>
                  <a:srgbClr val="FF0000"/>
                </a:solidFill>
              </a:rPr>
              <a:t>MedicationDispense</a:t>
            </a:r>
            <a:endParaRPr lang="en-US" altLang="zh-TW" sz="3200" b="1" dirty="0" smtClean="0">
              <a:solidFill>
                <a:srgbClr val="FF0000"/>
              </a:solidFill>
            </a:endParaRPr>
          </a:p>
          <a:p>
            <a:pPr lvl="1"/>
            <a:r>
              <a:rPr lang="en-US" altLang="zh-TW" sz="2600" dirty="0"/>
              <a:t>https://www.hl7.org/fhir/medicationdispense.html</a:t>
            </a:r>
          </a:p>
          <a:p>
            <a:r>
              <a:rPr lang="zh-TW" altLang="en-US" sz="3200" dirty="0" smtClean="0"/>
              <a:t>用藥紀錄</a:t>
            </a:r>
            <a:r>
              <a:rPr lang="en-US" altLang="zh-TW" sz="3200" dirty="0"/>
              <a:t>:</a:t>
            </a:r>
            <a:r>
              <a:rPr lang="en-US" altLang="zh-TW" sz="3200" b="1" dirty="0" err="1" smtClean="0">
                <a:solidFill>
                  <a:srgbClr val="FF0000"/>
                </a:solidFill>
              </a:rPr>
              <a:t>MedicationAdministration</a:t>
            </a:r>
            <a:r>
              <a:rPr lang="en-US" altLang="zh-TW" sz="3200" dirty="0" smtClean="0"/>
              <a:t>(</a:t>
            </a:r>
            <a:r>
              <a:rPr lang="zh-TW" altLang="en-US" sz="3200" dirty="0" smtClean="0"/>
              <a:t>每種藥每次的用藥紀錄</a:t>
            </a:r>
            <a:r>
              <a:rPr lang="en-US" altLang="zh-TW" sz="3200" dirty="0" smtClean="0"/>
              <a:t>)</a:t>
            </a:r>
          </a:p>
          <a:p>
            <a:pPr lvl="1"/>
            <a:r>
              <a:rPr lang="en-US" altLang="zh-TW" sz="2600" dirty="0"/>
              <a:t>https://www.hl7.org/fhir/medicationadministration.html</a:t>
            </a:r>
            <a:endParaRPr lang="en-US" altLang="zh-TW" sz="2600" dirty="0" smtClean="0"/>
          </a:p>
          <a:p>
            <a:r>
              <a:rPr lang="zh-TW" altLang="en-US" sz="3200" dirty="0" smtClean="0"/>
              <a:t>一次看診所有處方、配藥結果、及一段期間之服藥紀錄可用 </a:t>
            </a:r>
            <a:r>
              <a:rPr lang="en-US" altLang="zh-TW" sz="3200" b="1" dirty="0" smtClean="0">
                <a:solidFill>
                  <a:srgbClr val="FF0000"/>
                </a:solidFill>
              </a:rPr>
              <a:t>FHIR</a:t>
            </a:r>
            <a:r>
              <a:rPr lang="zh-TW" altLang="en-US" sz="3200" b="1" dirty="0" smtClean="0">
                <a:solidFill>
                  <a:srgbClr val="FF0000"/>
                </a:solidFill>
              </a:rPr>
              <a:t> </a:t>
            </a:r>
            <a:r>
              <a:rPr lang="en-US" altLang="zh-TW" sz="3200" b="1" dirty="0" smtClean="0">
                <a:solidFill>
                  <a:srgbClr val="FF0000"/>
                </a:solidFill>
              </a:rPr>
              <a:t>Bund</a:t>
            </a:r>
            <a:r>
              <a:rPr lang="en-US" altLang="zh-TW" sz="3200" dirty="0" smtClean="0"/>
              <a:t>le</a:t>
            </a:r>
            <a:r>
              <a:rPr lang="zh-TW" altLang="en-US" sz="3200" dirty="0" smtClean="0"/>
              <a:t> 打包</a:t>
            </a:r>
            <a:endParaRPr lang="en-US" altLang="zh-TW" sz="3200" dirty="0" smtClean="0"/>
          </a:p>
          <a:p>
            <a:pPr lvl="1"/>
            <a:r>
              <a:rPr lang="en-US" altLang="zh-TW" sz="2600" dirty="0"/>
              <a:t>https://www.hl7.org/fhir/bundle.html</a:t>
            </a:r>
            <a:endParaRPr lang="en-US" altLang="zh-TW" sz="2600" dirty="0" smtClean="0"/>
          </a:p>
          <a:p>
            <a:r>
              <a:rPr lang="zh-TW" altLang="en-US" dirty="0" smtClean="0"/>
              <a:t> 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43383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 smtClean="0"/>
              <a:t>IHE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Medication </a:t>
            </a:r>
            <a:r>
              <a:rPr lang="en-US" altLang="zh-TW" sz="2800" dirty="0"/>
              <a:t>Planning, Prescription, Dispense and Administration Process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4</a:t>
            </a:fld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558" y="1595438"/>
            <a:ext cx="11449271" cy="5074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9665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205" y="1950188"/>
            <a:ext cx="9667875" cy="352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r>
              <a:rPr lang="zh-TW" altLang="en-US" sz="4800" dirty="0" smtClean="0"/>
              <a:t>智慧</a:t>
            </a:r>
            <a:r>
              <a:rPr lang="zh-TW" altLang="en-US" sz="4800" dirty="0"/>
              <a:t>藥盒</a:t>
            </a:r>
            <a:r>
              <a:rPr lang="zh-TW" altLang="zh-TW" sz="4800" dirty="0" smtClean="0"/>
              <a:t>服藥</a:t>
            </a:r>
            <a:r>
              <a:rPr lang="zh-TW" altLang="zh-TW" sz="4800" dirty="0"/>
              <a:t>提醒設定</a:t>
            </a:r>
            <a:endParaRPr lang="en-US" altLang="zh-TW" sz="48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8480474" y="1701602"/>
            <a:ext cx="371643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200000"/>
              </a:lnSpc>
              <a:buFont typeface="+mj-lt"/>
              <a:buAutoNum type="arabicPeriod"/>
            </a:pPr>
            <a:r>
              <a:rPr lang="zh-TW" altLang="zh-TW" dirty="0">
                <a:latin typeface="+mn-ea"/>
              </a:rPr>
              <a:t>向</a:t>
            </a:r>
            <a:r>
              <a:rPr lang="en-US" altLang="zh-TW" dirty="0">
                <a:latin typeface="+mn-ea"/>
              </a:rPr>
              <a:t>Portal</a:t>
            </a:r>
            <a:r>
              <a:rPr lang="zh-TW" altLang="zh-TW" dirty="0">
                <a:latin typeface="+mn-ea"/>
              </a:rPr>
              <a:t>驗證權限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TW" altLang="zh-TW" dirty="0">
                <a:latin typeface="+mn-ea"/>
              </a:rPr>
              <a:t>調閱病患服藥</a:t>
            </a:r>
            <a:r>
              <a:rPr lang="zh-TW" altLang="zh-TW" dirty="0" smtClean="0">
                <a:latin typeface="+mn-ea"/>
              </a:rPr>
              <a:t>處方</a:t>
            </a:r>
            <a:endParaRPr lang="en-US" altLang="zh-TW" dirty="0" smtClean="0">
              <a:latin typeface="+mn-ea"/>
            </a:endParaRPr>
          </a:p>
          <a:p>
            <a:pPr marL="457200" lvl="0" indent="-457200">
              <a:lnSpc>
                <a:spcPct val="200000"/>
              </a:lnSpc>
              <a:buFont typeface="+mj-lt"/>
              <a:buAutoNum type="arabicPeriod"/>
            </a:pPr>
            <a:r>
              <a:rPr lang="zh-TW" altLang="en-US" dirty="0" smtClean="0">
                <a:latin typeface="+mn-ea"/>
              </a:rPr>
              <a:t>設定服藥提醒時間</a:t>
            </a:r>
            <a:endParaRPr lang="zh-TW" altLang="zh-TW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0678" y="1852477"/>
            <a:ext cx="5368463" cy="36655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4411145" y="1956023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居家中</a:t>
            </a:r>
            <a:endParaRPr lang="zh-TW" altLang="en-US" dirty="0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775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 defTabSz="1219170" rtl="0">
              <a:spcBef>
                <a:spcPct val="0"/>
              </a:spcBef>
            </a:pPr>
            <a:r>
              <a:rPr lang="en-US" altLang="zh-TW" sz="4800" smtClean="0">
                <a:latin typeface="+mn-ea"/>
                <a:ea typeface="+mn-ea"/>
              </a:rPr>
              <a:t>Bundle</a:t>
            </a:r>
            <a:r>
              <a:rPr lang="zh-TW" altLang="en-US" sz="4800" smtClean="0">
                <a:latin typeface="+mn-ea"/>
                <a:ea typeface="+mn-ea"/>
              </a:rPr>
              <a:t>內容</a:t>
            </a:r>
            <a:r>
              <a:rPr lang="en-US" altLang="zh-TW" sz="4800" smtClean="0">
                <a:latin typeface="+mn-ea"/>
                <a:ea typeface="+mn-ea"/>
              </a:rPr>
              <a:t>- MedicationRequest</a:t>
            </a:r>
            <a:endParaRPr lang="zh-TW" altLang="en-US" sz="4800" dirty="0">
              <a:latin typeface="+mn-ea"/>
              <a:ea typeface="+mn-ea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606" y="2493690"/>
            <a:ext cx="46863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3078" y="1341562"/>
            <a:ext cx="6781800" cy="429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線單箭頭接點 4"/>
          <p:cNvCxnSpPr/>
          <p:nvPr/>
        </p:nvCxnSpPr>
        <p:spPr>
          <a:xfrm flipV="1">
            <a:off x="1630710" y="3595281"/>
            <a:ext cx="3168352" cy="513184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3078" y="1197546"/>
            <a:ext cx="6552728" cy="5531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9331" y="1114128"/>
            <a:ext cx="6800850" cy="577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4495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3.60861E-6 L -1.875E-6 0.02244 " pathEditMode="relative" rAng="0" ptsTypes="AA">
                                      <p:cBhvr>
                                        <p:cTn id="16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1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0.02105 L -1.875E-6 0.04349 " pathEditMode="relative" rAng="0" ptsTypes="AA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1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/>
          <p:cNvPicPr/>
          <p:nvPr/>
        </p:nvPicPr>
        <p:blipFill>
          <a:blip r:embed="rId3"/>
          <a:stretch>
            <a:fillRect/>
          </a:stretch>
        </p:blipFill>
        <p:spPr>
          <a:xfrm>
            <a:off x="238778" y="1989634"/>
            <a:ext cx="7812251" cy="3735124"/>
          </a:xfrm>
          <a:prstGeom prst="rect">
            <a:avLst/>
          </a:prstGeom>
        </p:spPr>
      </p:pic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550590" y="261442"/>
            <a:ext cx="11462348" cy="1143265"/>
          </a:xfrm>
        </p:spPr>
        <p:txBody>
          <a:bodyPr>
            <a:normAutofit/>
          </a:bodyPr>
          <a:lstStyle/>
          <a:p>
            <a:r>
              <a:rPr lang="zh-TW" altLang="en-US" sz="4800" dirty="0" smtClean="0">
                <a:latin typeface="+mn-ea"/>
              </a:rPr>
              <a:t>收集居家量</a:t>
            </a:r>
            <a:r>
              <a:rPr lang="zh-TW" altLang="en-US" sz="4800" dirty="0">
                <a:latin typeface="+mn-ea"/>
              </a:rPr>
              <a:t>測</a:t>
            </a:r>
            <a:r>
              <a:rPr lang="zh-TW" altLang="en-US" sz="4800" dirty="0" smtClean="0">
                <a:latin typeface="+mn-ea"/>
              </a:rPr>
              <a:t>記錄與服藥紀錄</a:t>
            </a:r>
            <a:endParaRPr lang="zh-TW" altLang="en-US" sz="4800" dirty="0">
              <a:solidFill>
                <a:schemeClr val="tx1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8183438" y="3323339"/>
            <a:ext cx="43204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收集量測值或服藥紀錄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457200" indent="-457200">
              <a:buFont typeface="+mj-lt"/>
              <a:buAutoNum type="arabicPeriod"/>
            </a:pPr>
            <a:r>
              <a:rPr lang="zh-TW" altLang="en-US" dirty="0" smtClean="0">
                <a:latin typeface="+mn-ea"/>
              </a:rPr>
              <a:t>轉換為標準</a:t>
            </a:r>
            <a:r>
              <a:rPr lang="zh-TW" altLang="en-US" smtClean="0">
                <a:latin typeface="+mn-ea"/>
              </a:rPr>
              <a:t>規格文件</a:t>
            </a:r>
            <a:endParaRPr lang="en-US" altLang="zh-TW" smtClean="0">
              <a:latin typeface="+mn-ea"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zh-TW" altLang="zh-TW">
                <a:latin typeface="標楷體" panose="03000509000000000000" pitchFamily="65" charset="-120"/>
                <a:ea typeface="標楷體" panose="03000509000000000000" pitchFamily="65" charset="-120"/>
              </a:rPr>
              <a:t>向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</a:rPr>
              <a:t>Portal</a:t>
            </a:r>
            <a:r>
              <a:rPr lang="zh-TW" altLang="zh-TW">
                <a:latin typeface="標楷體" panose="03000509000000000000" pitchFamily="65" charset="-120"/>
                <a:ea typeface="標楷體" panose="03000509000000000000" pitchFamily="65" charset="-120"/>
              </a:rPr>
              <a:t>驗證權限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457200" indent="-457200">
              <a:buFont typeface="+mj-lt"/>
              <a:buAutoNum type="arabicPeriod"/>
            </a:pP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上傳量測記錄或服藥紀錄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81248" y="1638887"/>
            <a:ext cx="4536504" cy="40858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/>
          <p:cNvSpPr txBox="1"/>
          <p:nvPr/>
        </p:nvSpPr>
        <p:spPr>
          <a:xfrm>
            <a:off x="3261524" y="173470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居家中</a:t>
            </a:r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9408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800" smtClean="0"/>
              <a:t>轉換為標準規格文件</a:t>
            </a:r>
            <a:endParaRPr lang="zh-TW" altLang="en-US" sz="480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250000"/>
              </a:lnSpc>
              <a:buNone/>
            </a:pPr>
            <a:r>
              <a:rPr lang="zh-TW" altLang="en-US" sz="3200" smtClean="0"/>
              <a:t>量</a:t>
            </a:r>
            <a:r>
              <a:rPr lang="zh-TW" altLang="en-US" sz="3200" dirty="0" smtClean="0"/>
              <a:t>測值參考</a:t>
            </a:r>
            <a:r>
              <a:rPr lang="en-US" altLang="zh-TW" sz="3200" dirty="0" smtClean="0">
                <a:hlinkClick r:id="rId3" action="ppaction://hlinksldjump"/>
              </a:rPr>
              <a:t>FHIR </a:t>
            </a:r>
            <a:r>
              <a:rPr lang="en-US" altLang="zh-TW" sz="3200" smtClean="0">
                <a:hlinkClick r:id="rId3" action="ppaction://hlinksldjump"/>
              </a:rPr>
              <a:t>Observation Resource</a:t>
            </a:r>
            <a:endParaRPr lang="en-US" altLang="zh-TW" sz="3200" smtClean="0"/>
          </a:p>
          <a:p>
            <a:pPr marL="0" indent="0">
              <a:lnSpc>
                <a:spcPct val="250000"/>
              </a:lnSpc>
              <a:buNone/>
            </a:pPr>
            <a:r>
              <a:rPr lang="zh-TW" altLang="en-US" sz="3200" smtClean="0"/>
              <a:t>服藥</a:t>
            </a:r>
            <a:r>
              <a:rPr lang="zh-TW" altLang="en-US" sz="3200" dirty="0" smtClean="0"/>
              <a:t>紀錄</a:t>
            </a:r>
            <a:r>
              <a:rPr lang="zh-TW" altLang="en-US" sz="3200" dirty="0"/>
              <a:t>參考</a:t>
            </a:r>
            <a:r>
              <a:rPr lang="en-US" altLang="zh-TW" sz="3200" dirty="0">
                <a:hlinkClick r:id="rId4" action="ppaction://hlinksldjump"/>
              </a:rPr>
              <a:t>FHIR </a:t>
            </a:r>
            <a:r>
              <a:rPr lang="en-US" altLang="zh-TW" sz="3200" dirty="0" err="1">
                <a:hlinkClick r:id="rId4" action="ppaction://hlinksldjump"/>
              </a:rPr>
              <a:t>MedicationAdminstration</a:t>
            </a:r>
            <a:r>
              <a:rPr lang="en-US" altLang="zh-TW" sz="3200" dirty="0">
                <a:hlinkClick r:id="rId4" action="ppaction://hlinksldjump"/>
              </a:rPr>
              <a:t> </a:t>
            </a:r>
            <a:r>
              <a:rPr lang="en-US" altLang="zh-TW" sz="3200" dirty="0" smtClean="0">
                <a:hlinkClick r:id="rId4" action="ppaction://hlinksldjump"/>
              </a:rPr>
              <a:t>Resource</a:t>
            </a:r>
            <a:endParaRPr lang="en-US" altLang="zh-TW" sz="3200" dirty="0" smtClean="0"/>
          </a:p>
          <a:p>
            <a:pPr marL="0" indent="0">
              <a:buNone/>
            </a:pPr>
            <a:endParaRPr lang="en-US" altLang="zh-TW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8982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800" dirty="0"/>
              <a:t>FHIR Observation </a:t>
            </a:r>
            <a:r>
              <a:rPr lang="en-US" altLang="zh-TW" sz="4800" dirty="0" smtClean="0"/>
              <a:t>Resource</a:t>
            </a:r>
            <a:r>
              <a:rPr lang="zh-TW" altLang="en-US" sz="4800" dirty="0" smtClean="0"/>
              <a:t>介紹</a:t>
            </a:r>
            <a:endParaRPr lang="zh-TW" altLang="en-US" sz="4800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2918" y="1197546"/>
            <a:ext cx="4961824" cy="5544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3430910" y="3069754"/>
            <a:ext cx="5904656" cy="10081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3430910" y="4077866"/>
            <a:ext cx="5904656" cy="58528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3430910" y="4663166"/>
            <a:ext cx="5904656" cy="2067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3430910" y="5374010"/>
            <a:ext cx="5904656" cy="6480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hlinkClick r:id="rId3" action="ppaction://hlinksldjump"/>
          </p:cNvPr>
          <p:cNvSpPr/>
          <p:nvPr/>
        </p:nvSpPr>
        <p:spPr>
          <a:xfrm>
            <a:off x="3430910" y="6022082"/>
            <a:ext cx="5904656" cy="56768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7309469" y="3556988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mtClean="0"/>
              <a:t>LONIC Code</a:t>
            </a:r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7463358" y="413967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mtClean="0"/>
              <a:t>病患資料</a:t>
            </a:r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7589773" y="5467213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mtClean="0"/>
              <a:t>量測值</a:t>
            </a:r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7535366" y="607508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mtClean="0"/>
              <a:t>裝置資料</a:t>
            </a:r>
            <a:endParaRPr lang="zh-TW" altLang="en-US"/>
          </a:p>
        </p:txBody>
      </p:sp>
      <p:sp>
        <p:nvSpPr>
          <p:cNvPr id="15" name="文字方塊 14"/>
          <p:cNvSpPr txBox="1"/>
          <p:nvPr/>
        </p:nvSpPr>
        <p:spPr>
          <a:xfrm>
            <a:off x="1918742" y="453572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mtClean="0"/>
              <a:t>量測時間</a:t>
            </a:r>
            <a:endParaRPr lang="zh-TW" altLang="en-US"/>
          </a:p>
        </p:txBody>
      </p:sp>
      <p:sp>
        <p:nvSpPr>
          <p:cNvPr id="16" name="投影片編號版面配置區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17" name="矩形 16"/>
          <p:cNvSpPr/>
          <p:nvPr/>
        </p:nvSpPr>
        <p:spPr>
          <a:xfrm>
            <a:off x="3430910" y="1989634"/>
            <a:ext cx="5904656" cy="2067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2350790" y="1862195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/>
              <a:t>狀態</a:t>
            </a:r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9348883" y="3232415"/>
            <a:ext cx="29523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mtClean="0"/>
              <a:t>LONIC Code:FHIR</a:t>
            </a:r>
            <a:r>
              <a:rPr lang="zh-TW" altLang="en-US" smtClean="0"/>
              <a:t>定義的裝置編碼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6056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4800" dirty="0"/>
              <a:t>FHIR </a:t>
            </a:r>
            <a:r>
              <a:rPr lang="en-US" altLang="zh-TW" sz="4800" dirty="0" err="1"/>
              <a:t>MedicationAdminstration</a:t>
            </a:r>
            <a:r>
              <a:rPr lang="en-US" altLang="zh-TW" sz="4800" dirty="0"/>
              <a:t> </a:t>
            </a:r>
            <a:r>
              <a:rPr lang="en-US" altLang="zh-TW" sz="4800" dirty="0" smtClean="0"/>
              <a:t>Resource</a:t>
            </a:r>
            <a:r>
              <a:rPr lang="zh-TW" altLang="en-US" sz="4800" dirty="0" smtClean="0"/>
              <a:t>介紹</a:t>
            </a:r>
            <a:endParaRPr lang="zh-TW" altLang="en-US" sz="4800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894" y="1485578"/>
            <a:ext cx="5289318" cy="5374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3358902" y="3285778"/>
            <a:ext cx="5400600" cy="5760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3358902" y="3861842"/>
            <a:ext cx="5400600" cy="50405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3358902" y="4371558"/>
            <a:ext cx="5400600" cy="5760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3358902" y="6166098"/>
            <a:ext cx="5400600" cy="5760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3358902" y="2277666"/>
            <a:ext cx="5400600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1846734" y="2154845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/>
              <a:t>服藥狀態</a:t>
            </a:r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7103318" y="3342977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smtClean="0"/>
              <a:t>藥物資訊</a:t>
            </a:r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7103318" y="3883037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/>
              <a:t>病患資訊</a:t>
            </a:r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7103318" y="4428757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/>
              <a:t>服藥時間</a:t>
            </a:r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7103318" y="6280497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/>
              <a:t>裝置資訊</a:t>
            </a:r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3358902" y="5734050"/>
            <a:ext cx="5400600" cy="45023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7127706" y="5734050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mtClean="0"/>
              <a:t>處方</a:t>
            </a:r>
            <a:r>
              <a:rPr lang="zh-TW" altLang="zh-TW" smtClean="0"/>
              <a:t>資訊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5008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0550" y="189434"/>
            <a:ext cx="11678372" cy="1143265"/>
          </a:xfrm>
        </p:spPr>
        <p:txBody>
          <a:bodyPr>
            <a:normAutofit/>
          </a:bodyPr>
          <a:lstStyle/>
          <a:p>
            <a:pPr marL="457200" indent="-457200"/>
            <a:r>
              <a:rPr lang="zh-TW" altLang="en-US" sz="4800" dirty="0">
                <a:latin typeface="標楷體" panose="03000509000000000000" pitchFamily="65" charset="-120"/>
                <a:ea typeface="標楷體" panose="03000509000000000000" pitchFamily="65" charset="-120"/>
              </a:rPr>
              <a:t>上傳量測記錄或服藥</a:t>
            </a:r>
            <a:r>
              <a:rPr lang="zh-TW" altLang="en-US" sz="4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紀錄至</a:t>
            </a:r>
            <a:r>
              <a:rPr lang="en-US" altLang="zh-TW" sz="4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FHIR Server</a:t>
            </a:r>
            <a:endParaRPr lang="en-US" altLang="zh-TW" sz="4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11</a:t>
            </a:fld>
            <a:endParaRPr lang="zh-TW" altLang="en-US"/>
          </a:p>
        </p:txBody>
      </p:sp>
      <p:pic>
        <p:nvPicPr>
          <p:cNvPr id="3074" name="Picture 2" descr="C:\Users\蕭嘉宏_2385_2\Downloads\Post observation to FHIR Server (2)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2798" y="1413570"/>
            <a:ext cx="7674318" cy="4968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0862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1">
      <a:majorFont>
        <a:latin typeface="標楷體"/>
        <a:ea typeface="標楷體"/>
        <a:cs typeface=""/>
      </a:majorFont>
      <a:minorFont>
        <a:latin typeface="標楷體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E23C40F7987BD94CABA82AFC62A94432" ma:contentTypeVersion="4" ma:contentTypeDescription="新建文档。" ma:contentTypeScope="" ma:versionID="9f351afea588294fd050e128077ece8d">
  <xsd:schema xmlns:xsd="http://www.w3.org/2001/XMLSchema" xmlns:xs="http://www.w3.org/2001/XMLSchema" xmlns:p="http://schemas.microsoft.com/office/2006/metadata/properties" xmlns:ns2="eb3e25ed-62bb-4738-b913-60fa7c8c4598" targetNamespace="http://schemas.microsoft.com/office/2006/metadata/properties" ma:root="true" ma:fieldsID="4e8db5e55eb6b089fe498af89e2d142f" ns2:_="">
    <xsd:import namespace="eb3e25ed-62bb-4738-b913-60fa7c8c459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3e25ed-62bb-4738-b913-60fa7c8c45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513B65E-6F0C-4FB8-B3C3-2104AD81D929}"/>
</file>

<file path=customXml/itemProps2.xml><?xml version="1.0" encoding="utf-8"?>
<ds:datastoreItem xmlns:ds="http://schemas.openxmlformats.org/officeDocument/2006/customXml" ds:itemID="{6B09C838-AEB7-4A34-9021-AF401EED55B4}"/>
</file>

<file path=customXml/itemProps3.xml><?xml version="1.0" encoding="utf-8"?>
<ds:datastoreItem xmlns:ds="http://schemas.openxmlformats.org/officeDocument/2006/customXml" ds:itemID="{1C69E9A1-CB1D-492E-BA5F-5641506A1C6D}"/>
</file>

<file path=docProps/app.xml><?xml version="1.0" encoding="utf-8"?>
<Properties xmlns="http://schemas.openxmlformats.org/officeDocument/2006/extended-properties" xmlns:vt="http://schemas.openxmlformats.org/officeDocument/2006/docPropsVTypes">
  <TotalTime>22726</TotalTime>
  <Words>470</Words>
  <Application>Microsoft Office PowerPoint</Application>
  <PresentationFormat>自訂</PresentationFormat>
  <Paragraphs>74</Paragraphs>
  <Slides>11</Slides>
  <Notes>6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2" baseType="lpstr">
      <vt:lpstr>Office 佈景主題</vt:lpstr>
      <vt:lpstr>FHIR 居家用藥資訊互通分析</vt:lpstr>
      <vt:lpstr>應用情境</vt:lpstr>
      <vt:lpstr>使用的 FHIR resources 規範</vt:lpstr>
      <vt:lpstr>IHE Medication Planning, Prescription, Dispense and Administration Process</vt:lpstr>
      <vt:lpstr>智慧藥盒服藥提醒設定</vt:lpstr>
      <vt:lpstr>Bundle內容- MedicationRequest</vt:lpstr>
      <vt:lpstr>收集居家量測記錄與服藥紀錄</vt:lpstr>
      <vt:lpstr>轉換為標準規格文件</vt:lpstr>
      <vt:lpstr>FHIR Observation Resource介紹</vt:lpstr>
      <vt:lpstr>FHIR MedicationAdminstration Resource介紹</vt:lpstr>
      <vt:lpstr>上傳量測記錄或服藥紀錄至FHIR Server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系統架構</dc:title>
  <dc:creator>Lai</dc:creator>
  <cp:lastModifiedBy>User</cp:lastModifiedBy>
  <cp:revision>1610</cp:revision>
  <dcterms:created xsi:type="dcterms:W3CDTF">2018-05-24T12:48:15Z</dcterms:created>
  <dcterms:modified xsi:type="dcterms:W3CDTF">2019-02-20T00:35:55Z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0x010100E23C40F7987BD94CABA82AFC62A94432</vt:lpwstr>
  </property>
</Properties>
</file>
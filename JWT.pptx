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73" r:id="rId3"/>
    <p:sldId id="259" r:id="rId4"/>
    <p:sldId id="282" r:id="rId5"/>
    <p:sldId id="283" r:id="rId6"/>
    <p:sldId id="276" r:id="rId7"/>
    <p:sldId id="284" r:id="rId8"/>
    <p:sldId id="285" r:id="rId9"/>
    <p:sldId id="281" r:id="rId10"/>
    <p:sldId id="287" r:id="rId11"/>
    <p:sldId id="286" r:id="rId12"/>
    <p:sldId id="288" r:id="rId13"/>
    <p:sldId id="278" r:id="rId14"/>
    <p:sldId id="289" r:id="rId15"/>
    <p:sldId id="290" r:id="rId16"/>
    <p:sldId id="291" r:id="rId17"/>
    <p:sldId id="292" r:id="rId18"/>
    <p:sldId id="293" r:id="rId19"/>
    <p:sldId id="294" r:id="rId20"/>
    <p:sldId id="279" r:id="rId21"/>
    <p:sldId id="298" r:id="rId22"/>
    <p:sldId id="299" r:id="rId23"/>
    <p:sldId id="300" r:id="rId24"/>
    <p:sldId id="301" r:id="rId25"/>
    <p:sldId id="295" r:id="rId26"/>
    <p:sldId id="296" r:id="rId27"/>
    <p:sldId id="297" r:id="rId28"/>
    <p:sldId id="280" r:id="rId29"/>
  </p:sldIdLst>
  <p:sldSz cx="9144000" cy="5143500" type="screen16x9"/>
  <p:notesSz cx="6858000" cy="9144000"/>
  <p:embeddedFontLst>
    <p:embeddedFont>
      <p:font typeface="Karla" panose="02020500000000000000" charset="0"/>
      <p:regular r:id="rId31"/>
      <p:bold r:id="rId32"/>
      <p:italic r:id="rId33"/>
      <p:boldItalic r:id="rId34"/>
    </p:embeddedFont>
    <p:embeddedFont>
      <p:font typeface="Montserrat" panose="02020500000000000000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6B9B25-A2E8-4718-9C18-ED0F56BEA6B2}">
  <a:tblStyle styleId="{B06B9B25-A2E8-4718-9C18-ED0F56BEA6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1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1892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-9675" y="-9675"/>
            <a:ext cx="5276875" cy="5167075"/>
          </a:xfrm>
          <a:custGeom>
            <a:avLst/>
            <a:gdLst/>
            <a:ahLst/>
            <a:cxnLst/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ig image">
  <p:cSld name="TITLE_1_2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09250" y="-9675"/>
            <a:ext cx="3076750" cy="5167075"/>
          </a:xfrm>
          <a:custGeom>
            <a:avLst/>
            <a:gdLst/>
            <a:ahLst/>
            <a:cxnLst/>
            <a:rect l="l" t="t" r="r" b="b"/>
            <a:pathLst>
              <a:path w="123070" h="206683" extrusionOk="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6" name="Google Shape;26;p5"/>
          <p:cNvSpPr/>
          <p:nvPr/>
        </p:nvSpPr>
        <p:spPr>
          <a:xfrm>
            <a:off x="-19350" y="-9675"/>
            <a:ext cx="3076750" cy="5167075"/>
          </a:xfrm>
          <a:custGeom>
            <a:avLst/>
            <a:gdLst/>
            <a:ahLst/>
            <a:cxnLst/>
            <a:rect l="l" t="t" r="r" b="b"/>
            <a:pathLst>
              <a:path w="123070" h="206683" extrusionOk="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/>
          <p:nvPr/>
        </p:nvSpPr>
        <p:spPr>
          <a:xfrm>
            <a:off x="228600" y="-10437"/>
            <a:ext cx="8229315" cy="5164387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8" name="Google Shape;68;p12"/>
          <p:cNvSpPr/>
          <p:nvPr/>
        </p:nvSpPr>
        <p:spPr>
          <a:xfrm>
            <a:off x="0" y="-10437"/>
            <a:ext cx="8229315" cy="5164387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8BC34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▸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▹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▹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●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○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■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●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○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■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CD4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JWT</a:t>
            </a:r>
            <a:r>
              <a:rPr lang="zh-TW" altLang="en-US" dirty="0"/>
              <a:t>教學</a:t>
            </a:r>
            <a:endParaRPr dirty="0"/>
          </a:p>
        </p:txBody>
      </p:sp>
      <p:sp>
        <p:nvSpPr>
          <p:cNvPr id="2" name="文字方塊 1"/>
          <p:cNvSpPr txBox="1"/>
          <p:nvPr/>
        </p:nvSpPr>
        <p:spPr>
          <a:xfrm>
            <a:off x="1245370" y="4357950"/>
            <a:ext cx="2179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99999"/>
              </a:buClr>
              <a:buSzPts val="3600"/>
            </a:pPr>
            <a:r>
              <a:rPr lang="zh-TW" altLang="en-US" sz="1200" b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組員：蔡昀霖、糠依婷</a:t>
            </a:r>
          </a:p>
        </p:txBody>
      </p:sp>
      <p:grpSp>
        <p:nvGrpSpPr>
          <p:cNvPr id="12" name="Google Shape;540;p41"/>
          <p:cNvGrpSpPr/>
          <p:nvPr/>
        </p:nvGrpSpPr>
        <p:grpSpPr>
          <a:xfrm>
            <a:off x="8499831" y="126171"/>
            <a:ext cx="492673" cy="492673"/>
            <a:chOff x="2594050" y="1631825"/>
            <a:chExt cx="439625" cy="439625"/>
          </a:xfrm>
        </p:grpSpPr>
        <p:sp>
          <p:nvSpPr>
            <p:cNvPr id="13" name="Google Shape;541;p4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542;p4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543;p4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/>
                </a:solidFill>
              </a:endParaRPr>
            </a:p>
          </p:txBody>
        </p:sp>
        <p:sp>
          <p:nvSpPr>
            <p:cNvPr id="16" name="Google Shape;544;p41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" name="文字方塊 8"/>
          <p:cNvSpPr txBox="1"/>
          <p:nvPr/>
        </p:nvSpPr>
        <p:spPr>
          <a:xfrm>
            <a:off x="3992218" y="4835723"/>
            <a:ext cx="298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2019/03/07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88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>
            <a:spLocks noGrp="1"/>
          </p:cNvSpPr>
          <p:nvPr>
            <p:ph type="title"/>
          </p:nvPr>
        </p:nvSpPr>
        <p:spPr>
          <a:xfrm>
            <a:off x="609700" y="4116875"/>
            <a:ext cx="1721700" cy="4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en" dirty="0" smtClean="0">
                <a:solidFill>
                  <a:srgbClr val="009688"/>
                </a:solidFill>
              </a:rPr>
              <a:t>PROCESS</a:t>
            </a:r>
            <a:endParaRPr dirty="0"/>
          </a:p>
        </p:txBody>
      </p:sp>
      <p:sp>
        <p:nvSpPr>
          <p:cNvPr id="337" name="Google Shape;337;p31"/>
          <p:cNvSpPr txBox="1"/>
          <p:nvPr/>
        </p:nvSpPr>
        <p:spPr>
          <a:xfrm>
            <a:off x="4370010" y="243394"/>
            <a:ext cx="2689158" cy="48488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連接虛擬機</a:t>
            </a:r>
            <a:r>
              <a:rPr lang="zh-TW" altLang="en-US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器</a:t>
            </a:r>
            <a:endParaRPr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338" name="Google Shape;338;p31"/>
          <p:cNvGrpSpPr/>
          <p:nvPr/>
        </p:nvGrpSpPr>
        <p:grpSpPr>
          <a:xfrm>
            <a:off x="5640492" y="875069"/>
            <a:ext cx="284263" cy="249152"/>
            <a:chOff x="5323500" y="1591325"/>
            <a:chExt cx="376898" cy="330345"/>
          </a:xfrm>
        </p:grpSpPr>
        <p:sp>
          <p:nvSpPr>
            <p:cNvPr id="339" name="Google Shape;339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" name="Google Shape;341;p31"/>
          <p:cNvGrpSpPr/>
          <p:nvPr/>
        </p:nvGrpSpPr>
        <p:grpSpPr>
          <a:xfrm>
            <a:off x="5640492" y="1909654"/>
            <a:ext cx="284263" cy="249152"/>
            <a:chOff x="5323500" y="1591325"/>
            <a:chExt cx="376898" cy="330345"/>
          </a:xfrm>
        </p:grpSpPr>
        <p:sp>
          <p:nvSpPr>
            <p:cNvPr id="342" name="Google Shape;342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31"/>
          <p:cNvSpPr txBox="1"/>
          <p:nvPr/>
        </p:nvSpPr>
        <p:spPr>
          <a:xfrm>
            <a:off x="4370010" y="1267803"/>
            <a:ext cx="2689158" cy="48488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連</a:t>
            </a:r>
            <a:r>
              <a:rPr lang="zh-TW" altLang="en-US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接</a:t>
            </a: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網路埠</a:t>
            </a:r>
            <a:endParaRPr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4370010" y="2302388"/>
            <a:ext cx="2689158" cy="48488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更改檔案</a:t>
            </a:r>
            <a:endParaRPr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346" name="Google Shape;346;p31"/>
          <p:cNvGrpSpPr/>
          <p:nvPr/>
        </p:nvGrpSpPr>
        <p:grpSpPr>
          <a:xfrm>
            <a:off x="697729" y="3048739"/>
            <a:ext cx="408208" cy="465260"/>
            <a:chOff x="4630125" y="278900"/>
            <a:chExt cx="400675" cy="456675"/>
          </a:xfrm>
        </p:grpSpPr>
        <p:sp>
          <p:nvSpPr>
            <p:cNvPr id="347" name="Google Shape;347;p31"/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l" t="t" r="r" b="b"/>
              <a:pathLst>
                <a:path w="1755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w="12175" cap="rnd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l" t="t" r="r" b="b"/>
              <a:pathLst>
                <a:path w="1755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3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grpSp>
        <p:nvGrpSpPr>
          <p:cNvPr id="18" name="Google Shape;341;p31"/>
          <p:cNvGrpSpPr/>
          <p:nvPr/>
        </p:nvGrpSpPr>
        <p:grpSpPr>
          <a:xfrm>
            <a:off x="5640492" y="2930855"/>
            <a:ext cx="284263" cy="249152"/>
            <a:chOff x="5323500" y="1591325"/>
            <a:chExt cx="376898" cy="330345"/>
          </a:xfrm>
        </p:grpSpPr>
        <p:sp>
          <p:nvSpPr>
            <p:cNvPr id="19" name="Google Shape;342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43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345;p31"/>
          <p:cNvSpPr txBox="1"/>
          <p:nvPr/>
        </p:nvSpPr>
        <p:spPr>
          <a:xfrm>
            <a:off x="4370010" y="3336973"/>
            <a:ext cx="2689158" cy="48488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依序啟動服務</a:t>
            </a:r>
            <a:endParaRPr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22" name="Google Shape;341;p31"/>
          <p:cNvGrpSpPr/>
          <p:nvPr/>
        </p:nvGrpSpPr>
        <p:grpSpPr>
          <a:xfrm>
            <a:off x="5640492" y="3975663"/>
            <a:ext cx="284263" cy="249152"/>
            <a:chOff x="5323500" y="1591325"/>
            <a:chExt cx="376898" cy="330345"/>
          </a:xfrm>
        </p:grpSpPr>
        <p:sp>
          <p:nvSpPr>
            <p:cNvPr id="23" name="Google Shape;342;p31"/>
            <p:cNvSpPr/>
            <p:nvPr/>
          </p:nvSpPr>
          <p:spPr>
            <a:xfrm rot="5400000">
              <a:off x="5385398" y="1606670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00">
                <a:alpha val="7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43;p31"/>
            <p:cNvSpPr/>
            <p:nvPr/>
          </p:nvSpPr>
          <p:spPr>
            <a:xfrm rot="5400000">
              <a:off x="5325900" y="1588925"/>
              <a:ext cx="312600" cy="317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345;p31"/>
          <p:cNvSpPr txBox="1"/>
          <p:nvPr/>
        </p:nvSpPr>
        <p:spPr>
          <a:xfrm>
            <a:off x="4370010" y="4364319"/>
            <a:ext cx="2689158" cy="48488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請求授權</a:t>
            </a:r>
            <a:endParaRPr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0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>
                <a:solidFill>
                  <a:srgbClr val="FFC107"/>
                </a:solidFill>
              </a:rPr>
              <a:t>1.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 smtClean="0"/>
              <a:t>連接虛擬機器</a:t>
            </a:r>
            <a:endParaRPr sz="2400"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4294967295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10" name="Google Shape;620;p41"/>
          <p:cNvGrpSpPr/>
          <p:nvPr/>
        </p:nvGrpSpPr>
        <p:grpSpPr>
          <a:xfrm>
            <a:off x="5556052" y="1354750"/>
            <a:ext cx="2987175" cy="2360711"/>
            <a:chOff x="2583100" y="2973775"/>
            <a:chExt cx="461550" cy="437200"/>
          </a:xfrm>
        </p:grpSpPr>
        <p:sp>
          <p:nvSpPr>
            <p:cNvPr id="11" name="Google Shape;621;p41"/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22;p41"/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564769" y="173843"/>
            <a:ext cx="3913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99999"/>
              </a:buClr>
              <a:buSzPts val="2400"/>
            </a:pP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使</a:t>
            </a:r>
            <a:r>
              <a:rPr lang="zh-TW" altLang="en-US" sz="2400" b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用</a:t>
            </a:r>
            <a:r>
              <a:rPr lang="en-US" altLang="zh-TW" sz="2400" b="1" dirty="0" err="1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PuTTy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連接</a:t>
            </a:r>
            <a:endParaRPr lang="zh-TW" altLang="en-US" sz="2400" b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42" y="635508"/>
            <a:ext cx="43053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6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36" y="967155"/>
            <a:ext cx="6825300" cy="3782696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564768" y="173843"/>
            <a:ext cx="474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99999"/>
              </a:buClr>
              <a:buSzPts val="2400"/>
            </a:pP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也可以選擇用</a:t>
            </a:r>
            <a:r>
              <a:rPr lang="en-US" altLang="zh-TW" sz="2400" b="1" dirty="0" err="1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Git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TW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Bash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連接</a:t>
            </a:r>
            <a:endParaRPr lang="zh-TW" altLang="en-US" sz="2400" b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4691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C39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" name="Google Shape;111;p17"/>
          <p:cNvSpPr txBox="1">
            <a:spLocks/>
          </p:cNvSpPr>
          <p:nvPr/>
        </p:nvSpPr>
        <p:spPr>
          <a:xfrm>
            <a:off x="648300" y="1354750"/>
            <a:ext cx="35223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altLang="zh-TW" sz="7200" dirty="0">
                <a:solidFill>
                  <a:srgbClr val="FFC107"/>
                </a:solidFill>
              </a:rPr>
              <a:t>2</a:t>
            </a:r>
            <a:r>
              <a:rPr lang="en-US" altLang="zh-TW" sz="7200" dirty="0" smtClean="0">
                <a:solidFill>
                  <a:srgbClr val="FFC107"/>
                </a:solidFill>
              </a:rPr>
              <a:t>.</a:t>
            </a:r>
          </a:p>
          <a:p>
            <a:r>
              <a:rPr lang="zh-TW" altLang="en-US" dirty="0" smtClean="0"/>
              <a:t>連</a:t>
            </a:r>
            <a:r>
              <a:rPr lang="zh-TW" altLang="en-US" dirty="0"/>
              <a:t>接</a:t>
            </a:r>
            <a:r>
              <a:rPr lang="zh-TW" altLang="en-US" dirty="0" smtClean="0"/>
              <a:t>網路埠</a:t>
            </a:r>
            <a:endParaRPr lang="zh-TW" altLang="en-US" dirty="0"/>
          </a:p>
        </p:txBody>
      </p:sp>
      <p:grpSp>
        <p:nvGrpSpPr>
          <p:cNvPr id="11" name="Google Shape;872;p41"/>
          <p:cNvGrpSpPr/>
          <p:nvPr/>
        </p:nvGrpSpPr>
        <p:grpSpPr>
          <a:xfrm>
            <a:off x="5153566" y="1354750"/>
            <a:ext cx="3389661" cy="2567992"/>
            <a:chOff x="5233525" y="4954450"/>
            <a:chExt cx="538275" cy="516350"/>
          </a:xfrm>
        </p:grpSpPr>
        <p:sp>
          <p:nvSpPr>
            <p:cNvPr id="12" name="Google Shape;873;p41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74;p41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5;p41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6;p41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7;p41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8;p41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9;p41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80;p41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81;p41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82;p41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83;p41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3074" name="Picture 2" descr="https://lh5.googleusercontent.com/RES80jysUsemjAznIZiAjqQYFz6m4FjTaV5WHzeUr9z_dq_PcWWREEM8DIX6WrFkm7M6wPJhEl9pyI1KOmC06UG79G7DcVdcuwPaWZhpPLu8Q5iCA7XOeqZEqbJ1pdzU9nr8lPkg2Q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77" y="766815"/>
            <a:ext cx="5079058" cy="417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564768" y="173843"/>
            <a:ext cx="7102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99999"/>
              </a:buClr>
              <a:buSzPts val="2400"/>
            </a:pP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虛擬機器</a:t>
            </a:r>
            <a:r>
              <a:rPr lang="en-US" altLang="zh-TW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--&gt;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設定</a:t>
            </a:r>
            <a:r>
              <a:rPr lang="en-US" altLang="zh-TW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--&gt;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網路</a:t>
            </a:r>
            <a:r>
              <a:rPr lang="en-US" altLang="zh-TW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--&gt;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進階</a:t>
            </a:r>
            <a:r>
              <a:rPr lang="en-US" altLang="zh-TW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--&gt;</a:t>
            </a:r>
            <a:r>
              <a:rPr lang="zh-TW" altLang="en-US" sz="2400" b="1" dirty="0" smtClean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連接網路埠</a:t>
            </a:r>
            <a:endParaRPr lang="zh-TW" altLang="en-US" sz="2400" b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4985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370" y="241376"/>
            <a:ext cx="3148200" cy="485700"/>
          </a:xfrm>
        </p:spPr>
        <p:txBody>
          <a:bodyPr/>
          <a:lstStyle/>
          <a:p>
            <a:r>
              <a:rPr lang="zh-TW" altLang="en-US" dirty="0" smtClean="0"/>
              <a:t>增加連接埠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39" y="727076"/>
            <a:ext cx="63246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9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498;p41"/>
          <p:cNvGrpSpPr/>
          <p:nvPr/>
        </p:nvGrpSpPr>
        <p:grpSpPr>
          <a:xfrm>
            <a:off x="5998770" y="1232831"/>
            <a:ext cx="2243022" cy="2705186"/>
            <a:chOff x="596350" y="929175"/>
            <a:chExt cx="407950" cy="497475"/>
          </a:xfrm>
        </p:grpSpPr>
        <p:sp>
          <p:nvSpPr>
            <p:cNvPr id="6" name="Google Shape;499;p41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0;p41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01;p41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02;p41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03;p41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04;p41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05;p41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11;p17"/>
          <p:cNvSpPr txBox="1">
            <a:spLocks/>
          </p:cNvSpPr>
          <p:nvPr/>
        </p:nvSpPr>
        <p:spPr>
          <a:xfrm>
            <a:off x="648300" y="1354750"/>
            <a:ext cx="35223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altLang="zh-TW" sz="7200" dirty="0" smtClean="0">
                <a:solidFill>
                  <a:srgbClr val="FFC107"/>
                </a:solidFill>
              </a:rPr>
              <a:t>3.</a:t>
            </a:r>
          </a:p>
          <a:p>
            <a:r>
              <a:rPr lang="zh-TW" altLang="en-US" dirty="0" smtClean="0"/>
              <a:t>更改檔案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779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74522" y="-1494900"/>
            <a:ext cx="8404881" cy="2989800"/>
          </a:xfrm>
        </p:spPr>
        <p:txBody>
          <a:bodyPr/>
          <a:lstStyle/>
          <a:p>
            <a:r>
              <a:rPr lang="zh-TW" altLang="en-US" sz="2400" dirty="0" smtClean="0"/>
              <a:t>備份檔案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sz="1800" dirty="0" smtClean="0"/>
              <a:t>指令：</a:t>
            </a:r>
            <a:r>
              <a:rPr lang="en-US" altLang="zh-TW" sz="1800" dirty="0" err="1" smtClean="0"/>
              <a:t>cp</a:t>
            </a:r>
            <a:r>
              <a:rPr lang="en-US" altLang="zh-TW" sz="1800" dirty="0" smtClean="0"/>
              <a:t> </a:t>
            </a:r>
            <a:r>
              <a:rPr lang="en-US" altLang="zh-TW" sz="1800" dirty="0" err="1" smtClean="0"/>
              <a:t>docker-compose.yml</a:t>
            </a:r>
            <a:r>
              <a:rPr lang="en-US" altLang="zh-TW" sz="1800" dirty="0" smtClean="0"/>
              <a:t> </a:t>
            </a:r>
            <a:r>
              <a:rPr lang="en-US" altLang="zh-TW" sz="1800" dirty="0" err="1" smtClean="0"/>
              <a:t>docker-compose.yml</a:t>
            </a:r>
            <a:r>
              <a:rPr lang="en-US" altLang="zh-TW" sz="1800" dirty="0" smtClean="0"/>
              <a:t>.</a:t>
            </a:r>
            <a:r>
              <a:rPr lang="zh-TW" altLang="en-US" sz="1800" dirty="0" smtClean="0"/>
              <a:t>未安裝</a:t>
            </a:r>
            <a:r>
              <a:rPr lang="en-US" altLang="zh-TW" sz="1800" dirty="0" smtClean="0"/>
              <a:t>JWT</a:t>
            </a:r>
            <a:endParaRPr lang="zh-TW" altLang="en-US" sz="1800" dirty="0"/>
          </a:p>
        </p:txBody>
      </p:sp>
      <p:pic>
        <p:nvPicPr>
          <p:cNvPr id="6146" name="Picture 2" descr="https://lh5.googleusercontent.com/1AUDgcaFVO1a9GJdpZ0pp4_7GKC-uYxry2Xvscri2nkEEXIP1Sup7yCdRXpEXttAVZT7ySGPx30I0LIZVrdpcVcqoFD6JlBWac9Hlz9YFvfFDUAro5DeXuFH9cdc8bFyr4WSWUO22u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068"/>
          <a:stretch/>
        </p:blipFill>
        <p:spPr bwMode="auto">
          <a:xfrm>
            <a:off x="374522" y="1927589"/>
            <a:ext cx="8537982" cy="202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14190" y="249853"/>
            <a:ext cx="6877915" cy="2989800"/>
          </a:xfrm>
        </p:spPr>
        <p:txBody>
          <a:bodyPr/>
          <a:lstStyle/>
          <a:p>
            <a:r>
              <a:rPr lang="en-US" altLang="zh-TW" dirty="0" smtClean="0"/>
              <a:t>cd </a:t>
            </a:r>
            <a:r>
              <a:rPr lang="en-US" altLang="zh-TW" dirty="0" err="1" smtClean="0"/>
              <a:t>fhir</a:t>
            </a:r>
            <a:r>
              <a:rPr lang="en-US" altLang="zh-TW" dirty="0" smtClean="0"/>
              <a:t>-server</a:t>
            </a:r>
            <a:br>
              <a:rPr lang="en-US" altLang="zh-TW" dirty="0" smtClean="0"/>
            </a:br>
            <a:r>
              <a:rPr lang="en-US" altLang="zh-TW" dirty="0" err="1" smtClean="0"/>
              <a:t>nano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docker-compose.yml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將右邊的文字複製到</a:t>
            </a:r>
            <a:r>
              <a:rPr lang="en-US" altLang="zh-TW" dirty="0" err="1" smtClean="0"/>
              <a:t>yml</a:t>
            </a:r>
            <a:r>
              <a:rPr lang="zh-TW" altLang="en-US" dirty="0" smtClean="0"/>
              <a:t>檔案中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11607" y="249853"/>
            <a:ext cx="85484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version: '3'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services: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api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image: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saydo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/fhir-server:3.6.4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restart: always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ports: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"8036:8080"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volumes: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"/data/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hapi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/3.6.0/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lucenefiles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usr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/local/tomcat/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lucenefiles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environment: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MODE: JWT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JWT_ISSUER: "www.tzuchi.com.tw"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JWT_SECRET: "H7gO"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WHITELIST_SECRET: "www.tzuchi.com.tw"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DATABASE_DRIVER: "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com.mysql.jdbc.Driver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DATABASE_URL: "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jdbc:mysql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://172.18.0.3:3306/hapi_fhir_360?autoReconnect=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true&amp;useUnicode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=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true&amp;characterEncoding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=utf-8"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DATABASE_USERNAME: "hapi_fhir_360"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DATABASE_PASSWORD: "UukeZbY98Q4rHTNYcURDSbJLyJ7cRwbF"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HIBERNATE_DIALECT: "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org.hibernate.dialect.MySQLDialect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SERVER_BASE: http://10.0.2.15:8036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healthcheck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test: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nc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-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vz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localhost 8080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interval: 15s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timeout: 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retries: 15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database: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image: mysql:5.7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volumes: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"/data/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fhir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-server/:/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etc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conf.d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environment: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MYSQL_ROOT_PASSWORD: "HkeA0cI7MDgbyFru65Mm1izFTImN66gT"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MYSQL_DATABASE: 'hapi_fhir_360'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MYSQL_USER: 'hapi_fhir_360'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MYSQL_PASSWORD: UukeZbY98Q4rHTNYcURDSbJLyJ7cRwbF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ports: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"3306:3306"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healthcheck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test: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mysqladmin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ping -u root --password=HkeA0cI7MDgbyFru65Mm1izFTImN66gT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interval: 15s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timeout: 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retries: 15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healthboard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image: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pickonefish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healthboard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ports: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- "8090:80"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jwt_backend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image: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saydo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/homevisit-backend:1.2.1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restart: always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ports: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"8000:8000"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volumes: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"/data/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/backend:/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usr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/local/tomcat"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environment: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WHITELIST_SECRET: www.tzuchi.com.tw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JWT_ISSUER: www.tzuchi.com.tw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JWT_SECRET: H7gO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#JWT_REGISTER_ENABLED: "false"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FHIR_BASE_URL: http://10.0.2.15:8036/baseDstu3/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SERVER_PORT: 8000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DATABASE_HOST: 172.18.0.4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DATABASE_PORT: 3306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DATABASE_NAME: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DATABASE_USERNAME: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DATABASE_PASSWORD: Ch9g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SPRING_JPA_HIBERNATE_DDL_AUTO: update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healthcheck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test: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nc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-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vz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localhost 8000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interval: 15s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timeout: 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retries: 15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jwt_database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image: mysql:5.7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volumes: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/data/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/:/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etc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/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conf.d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environment: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MYSQL_ROOT_PASSWORD: W360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MYSQL_DATABASE: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MYSQL_USER: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homevisit</a:t>
            </a: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MYSQL_PASSWORD: Ch9g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ports: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- 3316:3306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healthcheck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test: </a:t>
            </a:r>
            <a:r>
              <a:rPr lang="en-US" altLang="zh-TW" sz="300" dirty="0" err="1">
                <a:solidFill>
                  <a:srgbClr val="595959"/>
                </a:solidFill>
                <a:latin typeface="Arial" panose="020B0604020202020204" pitchFamily="34" charset="0"/>
              </a:rPr>
              <a:t>mysqladmin</a:t>
            </a: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 ping -u root --password=W360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interval: 15s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timeout: 5s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>     retries: 15</a:t>
            </a: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  <a:t/>
            </a:r>
            <a:br>
              <a:rPr lang="en-US" altLang="zh-TW" sz="300" dirty="0">
                <a:solidFill>
                  <a:srgbClr val="595959"/>
                </a:solidFill>
                <a:latin typeface="Arial" panose="020B0604020202020204" pitchFamily="34" charset="0"/>
              </a:rPr>
            </a:br>
            <a:endParaRPr lang="en-US" altLang="zh-TW" sz="300" dirty="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81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74726" y="3718288"/>
            <a:ext cx="788056" cy="1425212"/>
          </a:xfrm>
        </p:spPr>
        <p:txBody>
          <a:bodyPr/>
          <a:lstStyle/>
          <a:p>
            <a:r>
              <a:rPr lang="zh-TW" altLang="en-US" sz="2400" dirty="0" smtClean="0"/>
              <a:t>注意紅線框起來的地方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zh-TW" altLang="en-US" sz="2400" dirty="0" smtClean="0"/>
              <a:t>是否相同</a:t>
            </a:r>
            <a:endParaRPr lang="zh-TW" altLang="en-US" sz="2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 descr="https://lh6.googleusercontent.com/IGfbav-oFOU23F-H-97jTjcnn5OBgdi2-VFVfgFUhB9ec3phN-XYxklnmEcvLmQLkPFyI6GOdoHEc4t2ALcWKQdFCtq7pp4CXhbBVbEWHkGvNmTlWzwwMBC6a5tc8MB6_7XZB4Xgvh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2" y="-1"/>
            <a:ext cx="3664744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lh6.googleusercontent.com/NrnYFaXDvn_Rj2OFk30FC5RMI2H_8GMR9NFxuk8w-LAtDe5ncLRcH7AgeERGRjVFkGt60Fd8V5zdqiYAcGNZ4Szlf8vNGvOYzZMU1gnSNt2IafgU3iN0CzD0SFFAH1uN5-Dr5dnOP5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256" y="-1"/>
            <a:ext cx="3664744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9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07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0" name="Google Shape;111;p17"/>
          <p:cNvSpPr txBox="1">
            <a:spLocks/>
          </p:cNvSpPr>
          <p:nvPr/>
        </p:nvSpPr>
        <p:spPr>
          <a:xfrm>
            <a:off x="648300" y="1354750"/>
            <a:ext cx="35223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altLang="zh-TW" sz="7200" dirty="0" smtClean="0">
                <a:solidFill>
                  <a:srgbClr val="FFC107"/>
                </a:solidFill>
              </a:rPr>
              <a:t>4.</a:t>
            </a:r>
          </a:p>
          <a:p>
            <a:r>
              <a:rPr lang="zh-TW" altLang="en-US" dirty="0" smtClean="0"/>
              <a:t>依序啟動服務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70059" y="1037758"/>
            <a:ext cx="2492990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sz="18000" dirty="0">
                <a:solidFill>
                  <a:srgbClr val="FFFFFF"/>
                </a:solidFill>
              </a:rPr>
              <a:t>🔌</a:t>
            </a:r>
            <a:endParaRPr lang="zh-TW" altLang="en-US" sz="1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369" y="89060"/>
            <a:ext cx="7602307" cy="485700"/>
          </a:xfrm>
        </p:spPr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docker</a:t>
            </a:r>
            <a:r>
              <a:rPr lang="en-US" altLang="zh-TW" dirty="0"/>
              <a:t>-compose up -d </a:t>
            </a:r>
            <a:r>
              <a:rPr lang="en-US" altLang="zh-TW" dirty="0" err="1"/>
              <a:t>jwt_database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8194" name="Picture 2" descr="https://lh3.googleusercontent.com/SjsRERgdJTh5Le1NBQixIQF0MPClFWadfk0WqX0vH7sZSJln5KENNpV7xj0rP2ha5w16hFsY1YBxom0lTuadggO5tpywcMwd29Q59KQYP9Od_Sz36HmW5mFrmWF0WgtGmcvhSLRfqN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20"/>
          <a:stretch/>
        </p:blipFill>
        <p:spPr bwMode="auto">
          <a:xfrm>
            <a:off x="235552" y="697523"/>
            <a:ext cx="8582025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lh5.googleusercontent.com/76p6eMVj3Pss0Y9UdbCpsQ7YIjLGGQ8qGfGN2CB9FsxXF7sXvjvlC4wiJDOUknlZrMfJuFg3OcS_UbBg2B5gPUVNFyLauIB89YXYUchgZpWR3jUcN7Q_Y9bxSqO0i2zq7PdEcOOp0j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14"/>
          <a:stretch/>
        </p:blipFill>
        <p:spPr bwMode="auto">
          <a:xfrm>
            <a:off x="235552" y="1791333"/>
            <a:ext cx="8582025" cy="295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31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38555" y="241292"/>
            <a:ext cx="4923692" cy="3112477"/>
          </a:xfrm>
        </p:spPr>
        <p:txBody>
          <a:bodyPr/>
          <a:lstStyle/>
          <a:p>
            <a:r>
              <a:rPr lang="zh-TW" altLang="en-US" dirty="0" smtClean="0"/>
              <a:t>注意紅線框起來的地方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與網站顯示的</a:t>
            </a:r>
            <a:r>
              <a:rPr lang="en-US" altLang="zh-TW" dirty="0" err="1" smtClean="0"/>
              <a:t>ip</a:t>
            </a:r>
            <a:r>
              <a:rPr lang="zh-TW" altLang="en-US" dirty="0" smtClean="0"/>
              <a:t>是否</a:t>
            </a:r>
            <a:r>
              <a:rPr lang="zh-TW" altLang="en-US" dirty="0"/>
              <a:t>相同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9218" name="Picture 2" descr="https://lh4.googleusercontent.com/rONYzHpHWd2V6G98oseyaETdrn0Y9EJ_f1W7AfDjltjhBocBZp3Lffs13sp3Je8l-EgEf2Y8IIu8IGwT07kwpc69m3fKhzqS1_7wupXLTdFa8PSvgb2bJBHOvTNRXIhJ8j_mb8rv7D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062" y="0"/>
            <a:ext cx="3675865" cy="515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15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786" y="260453"/>
            <a:ext cx="7813322" cy="485700"/>
          </a:xfrm>
        </p:spPr>
        <p:txBody>
          <a:bodyPr/>
          <a:lstStyle/>
          <a:p>
            <a:r>
              <a:rPr lang="en-US" altLang="zh-TW" dirty="0" err="1" smtClean="0"/>
              <a:t>sudo</a:t>
            </a:r>
            <a:r>
              <a:rPr lang="en-US" altLang="zh-TW" dirty="0" smtClean="0"/>
              <a:t> </a:t>
            </a:r>
            <a:r>
              <a:rPr lang="en-US" altLang="zh-TW" dirty="0" err="1"/>
              <a:t>docker</a:t>
            </a:r>
            <a:r>
              <a:rPr lang="en-US" altLang="zh-TW" dirty="0"/>
              <a:t>-compose up -d </a:t>
            </a:r>
            <a:r>
              <a:rPr lang="en-US" altLang="zh-TW" dirty="0" err="1"/>
              <a:t>jwt_backend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10242" name="Picture 2" descr="https://lh3.googleusercontent.com/NGTs8xZpfzADYQFRuDTfPioXnwp0Gy0hWQONiBe5KNEDfGHdxw1FAAnzO45JYs4NVLYms7T6wIAgbFCl2mDYWEwj8hjqPe1J_G20rtk6GRrnW0TIpq4IF79Ca7Zr5_VnD-wlziSj3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1704"/>
          <a:stretch/>
        </p:blipFill>
        <p:spPr bwMode="auto">
          <a:xfrm>
            <a:off x="244193" y="746153"/>
            <a:ext cx="8573384" cy="112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lh6.googleusercontent.com/eV-NU59hw19HMm01Ow0GiPxPyCc9QyNjEcI14gjBIHhF4CQSe55V_Ye9UchHsq0Xe8JnhvLRHK0yKRuXD2CybMi69acCQk83K5eujd09EwkdwT_rA_al4J9Ct5x3d_xk49Cc3IwhP5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66"/>
          <a:stretch/>
        </p:blipFill>
        <p:spPr bwMode="auto">
          <a:xfrm>
            <a:off x="244193" y="2052788"/>
            <a:ext cx="8573384" cy="289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4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9" y="330792"/>
            <a:ext cx="3148200" cy="485700"/>
          </a:xfrm>
        </p:spPr>
        <p:txBody>
          <a:bodyPr/>
          <a:lstStyle/>
          <a:p>
            <a:r>
              <a:rPr lang="en-US" altLang="zh-TW" dirty="0" smtClean="0"/>
              <a:t>127.0.1.1:8000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11266" name="Picture 2" descr="https://lh6.googleusercontent.com/ZqWdMS28ULXGGa6F0A_vfc5aE-5Yud1pkJvFXrPTw9eypa-6J5TLfWj03KCtQIFCvsOFcey0iuiSN4XmQu7qtf0IHqJxvH_N03CjTUjCXHITuIezy1G-Washn_xdj-Pm9uDT9MnMT7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97"/>
          <a:stretch/>
        </p:blipFill>
        <p:spPr bwMode="auto">
          <a:xfrm>
            <a:off x="351692" y="807700"/>
            <a:ext cx="8588977" cy="404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62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3863" y="242869"/>
            <a:ext cx="3148200" cy="485700"/>
          </a:xfrm>
        </p:spPr>
        <p:txBody>
          <a:bodyPr/>
          <a:lstStyle/>
          <a:p>
            <a:r>
              <a:rPr lang="en-US" altLang="zh-TW" dirty="0" smtClean="0"/>
              <a:t>Backend</a:t>
            </a:r>
            <a:r>
              <a:rPr lang="zh-TW" altLang="en-US" dirty="0" smtClean="0"/>
              <a:t>啟動成功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12290" name="Picture 2" descr="https://lh4.googleusercontent.com/_jEYjbrnH9y-5PO9W0yCVhuqKnPoSFf92pAvPaq2OGXOc2sB6WJUJtYzUj3v_EcPQuVGFdxR8id9yTCPmqdi3Dyp1GwW37NdhdMmy8DhAKu8nNaCOo1RLzAT40OBx4OyTyeO_n7nbwU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46"/>
          <a:stretch/>
        </p:blipFill>
        <p:spPr bwMode="auto">
          <a:xfrm>
            <a:off x="281354" y="1170189"/>
            <a:ext cx="8675320" cy="357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84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0" y="309284"/>
            <a:ext cx="5896598" cy="485700"/>
          </a:xfrm>
        </p:spPr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docker</a:t>
            </a:r>
            <a:r>
              <a:rPr lang="en-US" altLang="zh-TW" dirty="0"/>
              <a:t>-compose up -d </a:t>
            </a:r>
            <a:r>
              <a:rPr lang="en-US" altLang="zh-TW" dirty="0" err="1"/>
              <a:t>api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13314" name="Picture 2" descr="https://lh3.googleusercontent.com/v-GxkVMqFxoMpM7ggUzp0FAmrq-lxk1vkK2g8zhCETp2aETjOT-qfXyzxlxXqTa1wXXIiUf_XVt9v-UUtYCS6cijaWf0PZxY6UvVcFiV_P7zrYEX3KRrsl_6At3H7M-Vx4Gsad4Yi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213"/>
          <a:stretch/>
        </p:blipFill>
        <p:spPr bwMode="auto">
          <a:xfrm>
            <a:off x="317430" y="934574"/>
            <a:ext cx="8422124" cy="78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s://lh5.googleusercontent.com/8HBHy0H8j81RbM-dwYt4yvq3OL06GTwafaFm-fanvZZCAXjrsAggMtqtavQJgq5ki1Eue-e2TrEP4zSasc-DAZqWobwU_yXLFiqjWXE8BBkxsf9tkcigwCYJH7QW2B_KRTk9NiAdKn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60"/>
          <a:stretch/>
        </p:blipFill>
        <p:spPr bwMode="auto">
          <a:xfrm>
            <a:off x="317430" y="1882557"/>
            <a:ext cx="8422124" cy="290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8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800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13" name="Google Shape;111;p17"/>
          <p:cNvSpPr txBox="1">
            <a:spLocks/>
          </p:cNvSpPr>
          <p:nvPr/>
        </p:nvSpPr>
        <p:spPr>
          <a:xfrm>
            <a:off x="648300" y="1354750"/>
            <a:ext cx="35223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altLang="zh-TW" sz="7200" dirty="0" smtClean="0">
                <a:solidFill>
                  <a:srgbClr val="FFC107"/>
                </a:solidFill>
              </a:rPr>
              <a:t>5.</a:t>
            </a:r>
          </a:p>
          <a:p>
            <a:r>
              <a:rPr lang="zh-TW" altLang="en-US" dirty="0" smtClean="0"/>
              <a:t>請求</a:t>
            </a:r>
            <a:r>
              <a:rPr lang="zh-TW" altLang="en-US" dirty="0"/>
              <a:t>授權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5827776" y="1354750"/>
            <a:ext cx="310896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99999"/>
              </a:buClr>
              <a:buSzPts val="2400"/>
            </a:pPr>
            <a:r>
              <a:rPr lang="en" altLang="zh-TW" sz="150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🔑</a:t>
            </a:r>
            <a:endParaRPr lang="zh-TW" altLang="en-US" sz="150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377" y="360498"/>
            <a:ext cx="5154987" cy="485700"/>
          </a:xfrm>
        </p:spPr>
        <p:txBody>
          <a:bodyPr/>
          <a:lstStyle/>
          <a:p>
            <a:r>
              <a:rPr lang="zh-TW" altLang="en-US" dirty="0" smtClean="0"/>
              <a:t>先下載</a:t>
            </a:r>
            <a:r>
              <a:rPr lang="en-US" altLang="zh-TW" dirty="0" smtClean="0"/>
              <a:t>postman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chrome</a:t>
            </a:r>
            <a:r>
              <a:rPr lang="zh-TW" altLang="en-US" dirty="0" smtClean="0"/>
              <a:t>商店</a:t>
            </a:r>
            <a:r>
              <a:rPr lang="zh-TW" altLang="en-US" dirty="0" smtClean="0"/>
              <a:t>中搜尋</a:t>
            </a:r>
            <a:r>
              <a:rPr lang="en-US" altLang="zh-TW" dirty="0" smtClean="0"/>
              <a:t>postman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1026" name="Picture 2" descr="https://lh6.googleusercontent.com/hSPEFzG0H4y8vf6ddVCTsMr-SwYdb6sEPI2V2MBKa_HxYWWbTL2JzraCxRmxGfrFy9zR1gR4ac8HNH2V0w7CZZNnj5nbDSsaUw8ycx5Yp54ndaa_NhNyU6bXhFPOpniTVsRHmnRxz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7" y="846198"/>
            <a:ext cx="6152599" cy="42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69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50" y="242607"/>
            <a:ext cx="4598454" cy="485700"/>
          </a:xfrm>
        </p:spPr>
        <p:txBody>
          <a:bodyPr/>
          <a:lstStyle/>
          <a:p>
            <a:r>
              <a:rPr lang="zh-TW" altLang="en-US" dirty="0" smtClean="0"/>
              <a:t>將</a:t>
            </a:r>
            <a:r>
              <a:rPr lang="en-US" altLang="zh-TW" dirty="0" smtClean="0"/>
              <a:t>postman</a:t>
            </a:r>
            <a:r>
              <a:rPr lang="zh-TW" altLang="en-US" dirty="0" smtClean="0"/>
              <a:t>加到</a:t>
            </a:r>
            <a:r>
              <a:rPr lang="en-US" altLang="zh-TW" dirty="0" smtClean="0"/>
              <a:t>chrome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64" y="728307"/>
            <a:ext cx="6112566" cy="426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0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50" y="277274"/>
            <a:ext cx="3148200" cy="485700"/>
          </a:xfrm>
        </p:spPr>
        <p:txBody>
          <a:bodyPr/>
          <a:lstStyle/>
          <a:p>
            <a:r>
              <a:rPr lang="zh-TW" altLang="en-US" dirty="0" smtClean="0"/>
              <a:t>下載完成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2" y="762974"/>
            <a:ext cx="6109460" cy="426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2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0621" y="325071"/>
            <a:ext cx="3148200" cy="485700"/>
          </a:xfrm>
        </p:spPr>
        <p:txBody>
          <a:bodyPr/>
          <a:lstStyle/>
          <a:p>
            <a:r>
              <a:rPr lang="zh-TW" altLang="en-US" dirty="0" smtClean="0"/>
              <a:t>開啟</a:t>
            </a:r>
            <a:r>
              <a:rPr lang="en-US" altLang="zh-TW" dirty="0" smtClean="0"/>
              <a:t>postman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4098" name="Picture 2" descr="https://lh6.googleusercontent.com/KeQEI4OcuEtGQ1PZM34kl71eDcAK_lID9sLXhKM1T4ddAyDpubWoRmK6pQhQjHJgsQksFQlC5qx0jvTJoq3YlhHDZvQQw1AaWs43SKNtKN4UX-ek-_bFLnhSA0lZPwLN2AzGKfaYqF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81" y="839522"/>
            <a:ext cx="7579477" cy="410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4508719" y="-29817"/>
            <a:ext cx="42340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altLang="zh-TW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ost</a:t>
            </a:r>
            <a:r>
              <a:rPr lang="zh-TW" altLang="en-US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新增</a:t>
            </a:r>
            <a:endParaRPr lang="en-US" altLang="zh-TW" sz="2000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altLang="zh-TW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zh-TW" altLang="en-US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查詢</a:t>
            </a:r>
            <a:endParaRPr lang="en-US" altLang="zh-TW" sz="2000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altLang="zh-TW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Del</a:t>
            </a:r>
            <a:r>
              <a:rPr lang="zh-TW" altLang="en-US" sz="2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刪除</a:t>
            </a:r>
            <a:endParaRPr lang="zh-TW" altLang="en-US" sz="2000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13490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4804" y="189544"/>
            <a:ext cx="6718366" cy="500465"/>
          </a:xfrm>
        </p:spPr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000" b="0" dirty="0" smtClean="0"/>
              <a:t>http</a:t>
            </a:r>
            <a:r>
              <a:rPr lang="en-US" altLang="zh-TW" sz="2000" b="0" dirty="0"/>
              <a:t>://127.0.1.1:8000/api/auth/register</a:t>
            </a:r>
            <a:endParaRPr lang="zh-TW" altLang="en-US" sz="200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14338" name="Picture 2" descr="https://lh3.googleusercontent.com/jHFE_wX7xTyDhZ5HHaRpUxg4peWdE8bTeick3Yk-6NJsENpJWBcOVk178G_kideqrel9vWVt8rvZDHs0clk2e2v2Z80h_gdHTBhjgz-QpLuKIv5HDHgDYKWr7JztZO_mdmuImgbRkIU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90"/>
          <a:stretch/>
        </p:blipFill>
        <p:spPr bwMode="auto">
          <a:xfrm>
            <a:off x="1137800" y="672996"/>
            <a:ext cx="7194649" cy="42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38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4200" y="295623"/>
            <a:ext cx="6002107" cy="485700"/>
          </a:xfrm>
        </p:spPr>
        <p:txBody>
          <a:bodyPr/>
          <a:lstStyle/>
          <a:p>
            <a:r>
              <a:rPr lang="en-US" altLang="zh-TW" b="0" dirty="0"/>
              <a:t>http://127.0.1.1:8000/api/auth/token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15362" name="Picture 2" descr="https://lh6.googleusercontent.com/1XMcD-bZBfYWTWCOyQSzSy9CMgeaTaMVnktYQ_E6s0sO2hU4WgxuvaLJC27LQZoa0lAvJkMk48Q8qxn0_ss9BHLiwnMH9SSEy7X-Sa54jJ-g_LJGual4U0fh8nXlCFnyrAyw2FvKcn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6"/>
          <a:stretch/>
        </p:blipFill>
        <p:spPr bwMode="auto">
          <a:xfrm>
            <a:off x="1178168" y="781323"/>
            <a:ext cx="7162839" cy="418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66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3381" y="271975"/>
            <a:ext cx="7016262" cy="485700"/>
          </a:xfrm>
        </p:spPr>
        <p:txBody>
          <a:bodyPr/>
          <a:lstStyle/>
          <a:p>
            <a:r>
              <a:rPr lang="en-US" altLang="zh-TW" b="0" dirty="0" smtClean="0"/>
              <a:t/>
            </a:r>
            <a:br>
              <a:rPr lang="en-US" altLang="zh-TW" b="0" dirty="0" smtClean="0"/>
            </a:br>
            <a:r>
              <a:rPr lang="en-US" altLang="zh-TW" b="0" dirty="0"/>
              <a:t/>
            </a:r>
            <a:br>
              <a:rPr lang="en-US" altLang="zh-TW" b="0" dirty="0"/>
            </a:br>
            <a:r>
              <a:rPr lang="en-US" altLang="zh-TW" b="0" dirty="0" smtClean="0"/>
              <a:t>http</a:t>
            </a:r>
            <a:r>
              <a:rPr lang="en-US" altLang="zh-TW" b="0" dirty="0"/>
              <a:t>://127.0.1.1:8036/baseDstu3/Organization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16386" name="Picture 2" descr="https://lh4.googleusercontent.com/qyMCLlfINNWNN1Y2MC6s4Svb8VZQWkQEmRCX4TJ6ldT43jUFZkz5k6Y9RzAeRCJMxuzOR9lB9HdyIoaro-RiMjY1sn0jddpEGyiPKz3P1oah8V1JU54orhu1wTt0-ZbYM1rTWEIB-H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51"/>
          <a:stretch/>
        </p:blipFill>
        <p:spPr bwMode="auto">
          <a:xfrm>
            <a:off x="1195754" y="696715"/>
            <a:ext cx="6858000" cy="431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85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22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>
            <a:spLocks noGrp="1"/>
          </p:cNvSpPr>
          <p:nvPr>
            <p:ph type="ctrTitle" idx="4294967295"/>
          </p:nvPr>
        </p:nvSpPr>
        <p:spPr>
          <a:xfrm>
            <a:off x="685800" y="1964350"/>
            <a:ext cx="45315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 smtClean="0">
                <a:solidFill>
                  <a:srgbClr val="FF5722"/>
                </a:solidFill>
              </a:rPr>
              <a:t>COMPLETE!</a:t>
            </a:r>
            <a:endParaRPr sz="3600" dirty="0">
              <a:solidFill>
                <a:srgbClr val="FF5722"/>
              </a:solidFill>
            </a:endParaRPr>
          </a:p>
        </p:txBody>
      </p:sp>
      <p:sp>
        <p:nvSpPr>
          <p:cNvPr id="432" name="Google Shape;432;p3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11" name="Google Shape;917;p42"/>
          <p:cNvSpPr txBox="1"/>
          <p:nvPr/>
        </p:nvSpPr>
        <p:spPr>
          <a:xfrm>
            <a:off x="685800" y="819635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600" dirty="0">
                <a:solidFill>
                  <a:srgbClr val="FFC000"/>
                </a:solidFill>
              </a:rPr>
              <a:t>😉</a:t>
            </a:r>
            <a:endParaRPr sz="9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viragu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23C40F7987BD94CABA82AFC62A94432" ma:contentTypeVersion="4" ma:contentTypeDescription="建立新的文件。" ma:contentTypeScope="" ma:versionID="1cc81b75d9ffa686658c9fd4d33a2454">
  <xsd:schema xmlns:xsd="http://www.w3.org/2001/XMLSchema" xmlns:xs="http://www.w3.org/2001/XMLSchema" xmlns:p="http://schemas.microsoft.com/office/2006/metadata/properties" xmlns:ns2="eb3e25ed-62bb-4738-b913-60fa7c8c4598" targetNamespace="http://schemas.microsoft.com/office/2006/metadata/properties" ma:root="true" ma:fieldsID="dc193de87d040b4b13531df2c1f9168c" ns2:_="">
    <xsd:import namespace="eb3e25ed-62bb-4738-b913-60fa7c8c4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25ed-62bb-4738-b913-60fa7c8c4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646893-601B-43E5-A078-D880E81024AA}"/>
</file>

<file path=customXml/itemProps2.xml><?xml version="1.0" encoding="utf-8"?>
<ds:datastoreItem xmlns:ds="http://schemas.openxmlformats.org/officeDocument/2006/customXml" ds:itemID="{B9016822-AF0D-44BD-8011-BE8F2488F85D}"/>
</file>

<file path=customXml/itemProps3.xml><?xml version="1.0" encoding="utf-8"?>
<ds:datastoreItem xmlns:ds="http://schemas.openxmlformats.org/officeDocument/2006/customXml" ds:itemID="{7F773BB5-0874-40BC-BDB6-E13B7014C68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160</Words>
  <Application>Microsoft Office PowerPoint</Application>
  <PresentationFormat>如螢幕大小 (16:9)</PresentationFormat>
  <Paragraphs>163</Paragraphs>
  <Slides>28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2" baseType="lpstr">
      <vt:lpstr>Karla</vt:lpstr>
      <vt:lpstr>Arial</vt:lpstr>
      <vt:lpstr>Montserrat</vt:lpstr>
      <vt:lpstr>Arviragus template</vt:lpstr>
      <vt:lpstr>JWT教學</vt:lpstr>
      <vt:lpstr>OUR PROCESS</vt:lpstr>
      <vt:lpstr>1. 連接虛擬機器</vt:lpstr>
      <vt:lpstr>PowerPoint 簡報</vt:lpstr>
      <vt:lpstr>PowerPoint 簡報</vt:lpstr>
      <vt:lpstr>PowerPoint 簡報</vt:lpstr>
      <vt:lpstr>PowerPoint 簡報</vt:lpstr>
      <vt:lpstr>增加連接埠</vt:lpstr>
      <vt:lpstr>PowerPoint 簡報</vt:lpstr>
      <vt:lpstr>備份檔案  指令：cp docker-compose.yml docker-compose.yml.未安裝JWT</vt:lpstr>
      <vt:lpstr>cd fhir-server nano docker-compose.yml 將右邊的文字複製到yml檔案中</vt:lpstr>
      <vt:lpstr>注意紅線框起來的地方 是否相同</vt:lpstr>
      <vt:lpstr>PowerPoint 簡報</vt:lpstr>
      <vt:lpstr>sudo docker-compose up -d jwt_database</vt:lpstr>
      <vt:lpstr>注意紅線框起來的地方 與網站顯示的ip是否相同</vt:lpstr>
      <vt:lpstr>sudo docker-compose up -d jwt_backend</vt:lpstr>
      <vt:lpstr>127.0.1.1:8000</vt:lpstr>
      <vt:lpstr>Backend啟動成功</vt:lpstr>
      <vt:lpstr>sudo docker-compose up -d api</vt:lpstr>
      <vt:lpstr>PowerPoint 簡報</vt:lpstr>
      <vt:lpstr>先下載postman chrome商店中搜尋postman</vt:lpstr>
      <vt:lpstr>將postman加到chrome</vt:lpstr>
      <vt:lpstr>下載完成</vt:lpstr>
      <vt:lpstr>開啟postman</vt:lpstr>
      <vt:lpstr> http://127.0.1.1:8000/api/auth/register</vt:lpstr>
      <vt:lpstr>http://127.0.1.1:8000/api/auth/token</vt:lpstr>
      <vt:lpstr>  http://127.0.1.1:8036/baseDstu3/Organization</vt:lpstr>
      <vt:lpstr>COMPLETE!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JWT設定</dc:title>
  <cp:lastModifiedBy>user</cp:lastModifiedBy>
  <cp:revision>10</cp:revision>
  <dcterms:modified xsi:type="dcterms:W3CDTF">2019-03-07T02:56:01Z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0x010100E23C40F7987BD94CABA82AFC62A94432</vt:lpwstr>
  </property>
</Properties>
</file>